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b7bde9d2f04667" /><Relationship Type="http://schemas.openxmlformats.org/officeDocument/2006/relationships/extended-properties" Target="/docProps/app.xml" Id="R8ebe3ef07fb745f8" /><Relationship Type="http://schemas.openxmlformats.org/officeDocument/2006/relationships/officeDocument" Target="/ppt/presentation.xml" Id="Re3c01827e1c64d5f" /></Relationships>
</file>

<file path=ppt/presentation.xml><?xml version="1.0" encoding="utf-8"?>
<p:presentation xmlns:p="http://schemas.openxmlformats.org/presentationml/2006/main">
  <p:sldMasterIdLst>
    <p:sldMasterId xmlns:r="http://schemas.openxmlformats.org/officeDocument/2006/relationships" id="2147483648" r:id="Rb7e400e623734588"/>
  </p:sldMasterIdLst>
  <p:notesMasterIdLst>
    <p:notesMasterId xmlns:r="http://schemas.openxmlformats.org/officeDocument/2006/relationships" r:id="Re4688bab16cb4003"/>
  </p:notesMasterIdLst>
  <p:sldIdLst>
    <p:sldId xmlns:r="http://schemas.openxmlformats.org/officeDocument/2006/relationships" id="256" r:id="R28a44b39d7a046e8"/>
    <p:sldId xmlns:r="http://schemas.openxmlformats.org/officeDocument/2006/relationships" id="257" r:id="Rf0273276f397422a"/>
    <p:sldId xmlns:r="http://schemas.openxmlformats.org/officeDocument/2006/relationships" id="258" r:id="Rbe14397e336743a2"/>
    <p:sldId xmlns:r="http://schemas.openxmlformats.org/officeDocument/2006/relationships" id="259" r:id="Rf3ba36b1d64c4b3f"/>
    <p:sldId xmlns:r="http://schemas.openxmlformats.org/officeDocument/2006/relationships" id="260" r:id="R3c888dd1489348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f3588a33ba4fb0" /><Relationship Type="http://schemas.openxmlformats.org/officeDocument/2006/relationships/slideMaster" Target="/ppt/slideMasters/slideMaster1.xml" Id="Rb7e400e623734588" /><Relationship Type="http://schemas.openxmlformats.org/officeDocument/2006/relationships/notesMaster" Target="/ppt/notesMasters/notesMaster1.xml" Id="Re4688bab16cb4003" /><Relationship Type="http://schemas.openxmlformats.org/officeDocument/2006/relationships/presProps" Target="/ppt/presProps.xml" Id="R4571f45890a34157" /><Relationship Type="http://schemas.openxmlformats.org/officeDocument/2006/relationships/tableStyles" Target="/ppt/tableStyles.xml" Id="Rd967dabc450a4274" /><Relationship Type="http://schemas.openxmlformats.org/officeDocument/2006/relationships/slide" Target="/ppt/slides/slide1.xml" Id="R28a44b39d7a046e8" /><Relationship Type="http://schemas.openxmlformats.org/officeDocument/2006/relationships/slide" Target="/ppt/slides/slide2.xml" Id="Rf0273276f397422a" /><Relationship Type="http://schemas.openxmlformats.org/officeDocument/2006/relationships/slide" Target="/ppt/slides/slide3.xml" Id="Rbe14397e336743a2" /><Relationship Type="http://schemas.openxmlformats.org/officeDocument/2006/relationships/slide" Target="/ppt/slides/slide4.xml" Id="Rf3ba36b1d64c4b3f" /><Relationship Type="http://schemas.openxmlformats.org/officeDocument/2006/relationships/slide" Target="/ppt/slides/slide5.xml" Id="R3c888dd1489348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0cd502b48a45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73efcfd2624058" /><Relationship Type="http://schemas.openxmlformats.org/officeDocument/2006/relationships/notesMaster" Target="/ppt/notesMasters/notesMaster1.xml" Id="R37a05151ae9f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de3e1d0a4413d" /><Relationship Type="http://schemas.openxmlformats.org/officeDocument/2006/relationships/notesMaster" Target="/ppt/notesMasters/notesMaster1.xml" Id="R189264f7e17347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407f6dacde448e" /><Relationship Type="http://schemas.openxmlformats.org/officeDocument/2006/relationships/notesMaster" Target="/ppt/notesMasters/notesMaster1.xml" Id="Re06a55e5d39345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9e614aa76c489e" /><Relationship Type="http://schemas.openxmlformats.org/officeDocument/2006/relationships/notesMaster" Target="/ppt/notesMasters/notesMaster1.xml" Id="Rac95704022db45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09a7a6bd14521" /><Relationship Type="http://schemas.openxmlformats.org/officeDocument/2006/relationships/notesMaster" Target="/ppt/notesMasters/notesMaster1.xml" Id="R1cbe590d37f846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Вступление, 1 минута.</a:t>
            </a:r>
          </a:p>
          <a:p xmlns:a="http://schemas.openxmlformats.org/drawingml/2006/main">
            <a:r>
              <a:t/>
            </a:r>
          </a:p>
          <a:p xmlns:a="http://schemas.openxmlformats.org/drawingml/2006/main">
            <a:r>
              <a:t>Мы прогнозируем, как часто фамилии Ленина и Сталина появятся в архивных текстах четырёх российских телеканалов. Ссылки на советских лидеров дают измеримую характеристику телевизионной риторики. Но сами счётчики не позволяют установить политический курс или причинный эффект событий.</a:t>
            </a:r>
          </a:p>
          <a:p xmlns:a="http://schemas.openxmlformats.org/drawingml/2006/main">
            <a:r>
              <a:t/>
            </a:r>
          </a:p>
          <a:p xmlns:a="http://schemas.openxmlformats.org/drawingml/2006/main">
            <a:r>
              <a:t>Для каждого человека и канала у нас две цели: общее число упоминаний и число архивных записей хотя бы с одним упоминанием. Если фамилия прозвучала пять раз в одной записи, первая цель увеличится на пять, вторая на один. Итого получаются шестнадцать рядов.</a:t>
            </a:r>
          </a:p>
          <a:p xmlns:a="http://schemas.openxmlformats.org/drawingml/2006/main">
            <a:r>
              <a:t/>
            </a:r>
          </a:p>
          <a:p xmlns:a="http://schemas.openxmlformats.org/drawingml/2006/main">
            <a:r>
              <a:t>Горизонт по заявке: 31 день, с 3 октября по 2 ноября 2026 года. Мы фиксируем информацию на 2 октября. Это ретроспективное воспроизведение прогноза из этой точки, без использования последующих исходов.</a:t>
            </a:r>
          </a:p>
          <a:p xmlns:a="http://schemas.openxmlformats.org/drawingml/2006/main">
            <a:r>
              <a:t/>
            </a:r>
          </a:p>
          <a:p xmlns:a="http://schemas.openxmlformats.org/drawingml/2006/main">
            <a:r>
              <a:t>Источники: output/proposal/forecasting_proposal.tex; output/joint_forecast/manifest.json. Требования к выступлению: coursework/Instructions on group projects presentations.pdf, 8 минут плюс 2 минуты вопросов.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Данные, 1 минута 40 секунд.</a:t>
            </a:r>
          </a:p>
          <a:p xmlns:a="http://schemas.openxmlformats.org/drawingml/2006/main">
            <a:r>
              <a:t/>
            </a:r>
          </a:p>
          <a:p xmlns:a="http://schemas.openxmlformats.org/drawingml/2006/main">
            <a:r>
              <a:t>Мы используем сохранённые транскрипты и метаданные GDELT для Первого канала, НТВ, России 1 и России 24. Период начинается 1 января 2023 года и заканчивается 2 октября 2026 года. Считаем все архивные программы, включая рекламу и повторы в другое время. Единица наблюдения — каноническая архивная запись, а не обязательно отдельная физическая телепередача.</a:t>
            </a:r>
          </a:p>
          <a:p xmlns:a="http://schemas.openxmlformats.org/drawingml/2006/main">
            <a:r>
              <a:t/>
            </a:r>
          </a:p>
          <a:p xmlns:a="http://schemas.openxmlformats.org/drawingml/2006/main">
            <a:r>
              <a:t>Перед моделированием мы перепроверили доступные оригиналы, границы слов и падежные формы фамилий. Полнота дня учитывает инвентари UTC, а агрегация использует московскую дату начала записи. Неполный день не превращается в ноль. Всего доступны 5334 полных дня канала из 5484.</a:t>
            </a:r>
          </a:p>
          <a:p xmlns:a="http://schemas.openxmlformats.org/drawingml/2006/main">
            <a:r>
              <a:t/>
            </a:r>
          </a:p>
          <a:p xmlns:a="http://schemas.openxmlformats.org/drawingml/2006/main">
            <a:r>
              <a:t>Замечание преподавателя про названия улиц здесь принципиально. Правила по контексту отделяют историческое лицо от названных объектов и однофамильцев. Мы также удаляем только доказанные дубли в перекрывающихся записях. Неясные ссылки и ASR сохраняются для отдельного анализа чувствительности.</a:t>
            </a:r>
          </a:p>
          <a:p xmlns:a="http://schemas.openxmlformats.org/drawingml/2006/main">
            <a:r>
              <a:t/>
            </a:r>
          </a:p>
          <a:p xmlns:a="http://schemas.openxmlformats.org/drawingml/2006/main">
            <a:r>
              <a:t>Семантическая точность правил не измерена независимой человеческой разметкой. Длина транскриптов тоже меняется, поэтому выводы относятся к измеряемому архивному ряду. На графике видно, что техническое покрытие высокое, но это не оценка точности классификации.</a:t>
            </a:r>
          </a:p>
          <a:p xmlns:a="http://schemas.openxmlformats.org/drawingml/2006/main">
            <a:r>
              <a:t/>
            </a:r>
          </a:p>
          <a:p xmlns:a="http://schemas.openxmlformats.org/drawingml/2006/main">
            <a:r>
              <a:t>Источники: data/cleaned/tv_daily_targets.csv.gz; output/data_cleaning/cleaning_summary.json;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Прогноз, 1 минута 40 секунд.</a:t>
            </a:r>
          </a:p>
          <a:p xmlns:a="http://schemas.openxmlformats.org/drawingml/2006/main">
            <a:r>
              <a:t/>
            </a:r>
          </a:p>
          <a:p xmlns:a="http://schemas.openxmlformats.org/drawingml/2006/main">
            <a:r>
              <a:t>В таблице показан месячный итог по всем шестнадцати целям. Первая числовая колонка — число упоминаний, вторая — число записей с упоминанием. Сначала стоит средний прогноз, затем в скобках центральный 80-процентный предиктивный интервал.</a:t>
            </a:r>
          </a:p>
          <a:p xmlns:a="http://schemas.openxmlformats.org/drawingml/2006/main">
            <a:r>
              <a:t/>
            </a:r>
          </a:p>
          <a:p xmlns:a="http://schemas.openxmlformats.org/drawingml/2006/main">
            <a:r>
              <a:t>Например, для Сталина на России 24 ожидаем около 67 упоминаний в 36 записях. Для Ленина на том же канале ожидаем около 38 упоминаний в 24 записях. Разница между колонками отражает повторные упоминания внутри одной записи. Это прогнозы измеряемых фамильных контекстов, а не оценка числа всех ссылок на историческое лицо через имена, местоимения и псевдонимы.</a:t>
            </a:r>
          </a:p>
          <a:p xmlns:a="http://schemas.openxmlformats.org/drawingml/2006/main">
            <a:r>
              <a:t/>
            </a:r>
          </a:p>
          <a:p xmlns:a="http://schemas.openxmlformats.org/drawingml/2006/main">
            <a:r>
              <a:t>Прогноз включает полные распределения по дням, но для короткого выступления мы показываем месячные суммы. Каждая из 30000 симуляций содержит целую совместную траекторию на 31 день. Сначала суммируем дни внутри каждой траектории, затем берём квантили. Складывать ежедневные границы интервалов было бы неправильно.</a:t>
            </a:r>
          </a:p>
          <a:p xmlns:a="http://schemas.openxmlformats.org/drawingml/2006/main">
            <a:r>
              <a:t/>
            </a:r>
          </a:p>
          <a:p xmlns:a="http://schemas.openxmlformats.org/drawingml/2006/main">
            <a:r>
              <a:t>Модель M3 мы выбрали заранее на раннем периоде. На последнем слайде отдельно увидим, насколько хорошо её интервалы работают на прошлых месяцах. Указанные 80 процентов — модельный уровень, а не обещание уже подтверждённой калибровки.</a:t>
            </a:r>
          </a:p>
          <a:p xmlns:a="http://schemas.openxmlformats.org/drawingml/2006/main">
            <a:r>
              <a:t/>
            </a:r>
          </a:p>
          <a:p xmlns:a="http://schemas.openxmlformats.org/drawingml/2006/main">
            <a:r>
              <a:t>Источник всех чисел: output/joint_forecast/forecast_month.csv, scenario=main, model=M3. Средние округлены до целых, границы интервалов сохранены. Данные ограничены 2 октября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Модели, 1 минута 50 секунд.</a:t>
            </a:r>
          </a:p>
          <a:p xmlns:a="http://schemas.openxmlformats.org/drawingml/2006/main">
            <a:r>
              <a:t/>
            </a:r>
          </a:p>
          <a:p xmlns:a="http://schemas.openxmlformats.org/drawingml/2006/main">
            <a:r>
              <a:t>Мы реализовали зависимость, которую предложил преподаватель. Сначала прогнозируем число всех записей N. Затем генерируем число записей с упоминанием B условно на N. В каждой такой записи есть хотя бы одно упоминание, поэтому C равно B плюс дополнительные упоминания E. Будущий знаменатель N тоже прогнозируется. Во всех симуляциях B не превышает N, C не меньше B, а при B равном нулю C тоже равен нулю.</a:t>
            </a:r>
          </a:p>
          <a:p xmlns:a="http://schemas.openxmlformats.org/drawingml/2006/main">
            <a:r>
              <a:t/>
            </a:r>
          </a:p>
          <a:p xmlns:a="http://schemas.openxmlformats.org/drawingml/2006/main">
            <a:r>
              <a:t>M1 использует постоянные уровни и аналитическое обновление Gamma- и Beta-приоров из курса Bayesian forecasting. M2 добавляет отрицательно-биномиальную и бета-биномиальную вариацию. Для дополнительных упоминаний размер NB пропорционален B, что соответствует сумме положительных счётчиков внутри B записей.</a:t>
            </a:r>
          </a:p>
          <a:p xmlns:a="http://schemas.openxmlformats.org/drawingml/2006/main">
            <a:r>
              <a:t/>
            </a:r>
          </a:p>
          <a:p xmlns:a="http://schemas.openxmlformats.org/drawingml/2006/main">
            <a:r>
              <a:t>M3 добавляет тренд, месяцы, дни недели и отдельные календарные даты, включая 7 ноября, 8 и 9 мая. Частичный pooling сжимает канальные и календарные эффекты. Масштабы приоров заданы заранее, мы не выдаём их за оценённые гиперпараметры. Для статических posterior применяем Metropolis–Hastings с четырьмя цепями и проверкой R-hat и ESS.</a:t>
            </a:r>
          </a:p>
          <a:p xmlns:a="http://schemas.openxmlformats.org/drawingml/2006/main">
            <a:r>
              <a:t/>
            </a:r>
          </a:p>
          <a:p xmlns:a="http://schemas.openxmlformats.org/drawingml/2006/main">
            <a:r>
              <a:t>M4 добавляет латентный уровень и последовательный фильтр частиц. Это условное модульное приближение, не полный совместный Bayes. Смесь выбирает целую траекторию одной из четырёх моделей, сохраняя зависимость счётчиков. Здесь используются методы лекций L2–L6, а оцениваем их по принципам L1.</a:t>
            </a:r>
          </a:p>
          <a:p xmlns:a="http://schemas.openxmlformats.org/drawingml/2006/main">
            <a:r>
              <a:t/>
            </a:r>
          </a:p>
          <a:p xmlns:a="http://schemas.openxmlformats.org/drawingml/2006/main">
            <a:r>
              <a:t>Источники: analysis/joint_count_models.py; output/joint_forecast/README.md; manifest.json; verification.json. M4 q=0.015 выбран на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Оценка и выводы, 1 минута 50 секунд.</a:t>
            </a:r>
          </a:p>
          <a:p xmlns:a="http://schemas.openxmlformats.org/drawingml/2006/main">
            <a:r>
              <a:t/>
            </a:r>
          </a:p>
          <a:p xmlns:a="http://schemas.openxmlformats.org/drawingml/2006/main">
            <a:r>
              <a:t>Мы разделили настройку и проверку по времени. На шести ранних месяцах, с июля по декабрь 2024 года, выбрали динамический параметр и основную модель. После этого зафиксировали выбор. Внешняя проверка охватывает 21 непересекающийся календарный месяц, с января 2025 по сентябрь 2026. Перед каждым месяцем модель заново обучается только на прошлом. Все модели оцениваются на одинаковых полных днях.</a:t>
            </a:r>
          </a:p>
          <a:p xmlns:a="http://schemas.openxmlformats.org/drawingml/2006/main">
            <a:r>
              <a:t/>
            </a:r>
          </a:p>
          <a:p xmlns:a="http://schemas.openxmlformats.org/drawingml/2006/main">
            <a:r>
              <a:t>На графике положительное значение означает улучшение CRPS относительно M1. Для сравнения рядов с разным масштабом делим CRPS на максимум из единицы и среднего ряда в обучении. Модель M3 снизила эту ошибку относительно базовой на 10,2 процента. RMSE уменьшилась на 1,7 процента. M4 почти не меняет ежедневную точность, поэтому сложность сама по себе не гарантирует выигрыша.</a:t>
            </a:r>
          </a:p>
          <a:p xmlns:a="http://schemas.openxmlformats.org/drawingml/2006/main">
            <a:r>
              <a:t/>
            </a:r>
          </a:p>
          <a:p xmlns:a="http://schemas.openxmlformats.org/drawingml/2006/main">
            <a:r>
              <a:t>Однако дневная оценка не заменяет проверку месячной суммы. Справа важное ограничение: месячные 80-процентные интервалы M3 покрыли только 72,1 процента исходов, а 95-процентные — 90 процентов. У M4 покрытие ближе к номинальному, но тоже не идеально. Серийная зависимость имеет значение для сумм. Мы показываем это, сохраняем заранее выбранную M3 и не перенастраиваем интервалы на внешнем тесте.</a:t>
            </a:r>
          </a:p>
          <a:p xmlns:a="http://schemas.openxmlformats.org/drawingml/2006/main">
            <a:r>
              <a:t/>
            </a:r>
          </a:p>
          <a:p xmlns:a="http://schemas.openxmlformats.org/drawingml/2006/main">
            <a:r>
              <a:t>Наш итог: календарь и pooling помогают ежедневному вероятностному прогнозу. Для месячной неопределённости динамика полезнее, но измерение и калибровка остаются ограничениями. В отчёте есть CRPS, RMSE, PIT, интервалы, DM-тесты и чувствительность к неясным контекстам.</a:t>
            </a:r>
          </a:p>
          <a:p xmlns:a="http://schemas.openxmlformats.org/drawingml/2006/main">
            <a:r>
              <a:t/>
            </a:r>
          </a:p>
          <a:p xmlns:a="http://schemas.openxmlformats.org/drawingml/2006/main">
            <a:r>
              <a:t>Источники: output/joint_forecast/evaluation.csv; evaluation_monthly.csv; selection.json; dm_tests.csv. Месячные показатели основаны на280 полностью наблюдаемых month-target cases, которые не являются280 независимыми экспериментами. DM —21 месячный блок, HAC lag1, Holm. Для Q&amp;A: правила контекста не валидированы независимой человеческой разметкой; backtest использует одну исправленную версию архива, real-time vintages отсутствуют.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2b80093f1544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9697798b8441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dfcf36d72f42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a6f222267f45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3ac8414af640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8d9a8ce84742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B32CEE-BBC6-4CDF-A641-B00F6EF40A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3FB7E5-6AB7-4152-B6F8-98B994244D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79754C-5093-42B2-A85F-4F26B8E840A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515626-ECA0-4E56-B51B-C4A383AA92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AF4957-61AE-4220-9A5E-C6CF09D8F1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8056F0-602F-42C2-B526-0DAEF1E780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4DE032-5D38-4D34-9AF9-BC0BB7F28B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A32D2B-1A71-4E90-AA87-D8A9705D92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A7E6D-2247-402F-A426-0CE5732771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1D205F-A0CF-48D1-982C-59B4989FEF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df31f03be44906" /><Relationship Type="http://schemas.openxmlformats.org/officeDocument/2006/relationships/slideLayout" Target="/ppt/slideLayouts/slideLayout1.xml" Id="Rfc8ac35011474f88" /><Relationship Type="http://schemas.openxmlformats.org/officeDocument/2006/relationships/slideLayout" Target="/ppt/slideLayouts/slideLayout2.xml" Id="R768f0da9784148f3" /><Relationship Type="http://schemas.openxmlformats.org/officeDocument/2006/relationships/slideLayout" Target="/ppt/slideLayouts/slideLayout3.xml" Id="Rb1b8e15412e4433f" /><Relationship Type="http://schemas.openxmlformats.org/officeDocument/2006/relationships/slideLayout" Target="/ppt/slideLayouts/slideLayout4.xml" Id="R96ad2b279f564499" /><Relationship Type="http://schemas.openxmlformats.org/officeDocument/2006/relationships/slideLayout" Target="/ppt/slideLayouts/slideLayout5.xml" Id="Raa1b23a0f69c42c0" /><Relationship Type="http://schemas.openxmlformats.org/officeDocument/2006/relationships/slideLayout" Target="/ppt/slideLayouts/slideLayout6.xml" Id="R254dc110781640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8ac35011474f88"/>
    <p:sldLayoutId xmlns:r="http://schemas.openxmlformats.org/officeDocument/2006/relationships" id="2147483650" r:id="R768f0da9784148f3"/>
    <p:sldLayoutId xmlns:r="http://schemas.openxmlformats.org/officeDocument/2006/relationships" id="2147483651" r:id="Rb1b8e15412e4433f"/>
    <p:sldLayoutId xmlns:r="http://schemas.openxmlformats.org/officeDocument/2006/relationships" id="2147483652" r:id="R96ad2b279f564499"/>
    <p:sldLayoutId xmlns:r="http://schemas.openxmlformats.org/officeDocument/2006/relationships" id="2147483653" r:id="Raa1b23a0f69c42c0"/>
    <p:sldLayoutId xmlns:r="http://schemas.openxmlformats.org/officeDocument/2006/relationships" id="2147483654" r:id="R254dc110781640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4886f4c7f04484" /><Relationship Type="http://schemas.openxmlformats.org/officeDocument/2006/relationships/notesSlide" Target="/ppt/notesSlides/notesSlide1.xml" Id="R80b2ebc4d6f04c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8d41d9cb114764" /><Relationship Type="http://schemas.openxmlformats.org/officeDocument/2006/relationships/chart" Target="/ppt/slides/charts/chart1.xml" Id="R79f93e66b93c4778" /><Relationship Type="http://schemas.openxmlformats.org/officeDocument/2006/relationships/notesSlide" Target="/ppt/notesSlides/notesSlide2.xml" Id="Rea3a542ef81746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3c1be6f3b14a5f" /><Relationship Type="http://schemas.openxmlformats.org/officeDocument/2006/relationships/notesSlide" Target="/ppt/notesSlides/notesSlide3.xml" Id="Rdec6bd4741dc4d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b1b75b44bb4110" /><Relationship Type="http://schemas.openxmlformats.org/officeDocument/2006/relationships/notesSlide" Target="/ppt/notesSlides/notesSlide4.xml" Id="R1f8d28011cf94f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5ddc064e2b47c8" /><Relationship Type="http://schemas.openxmlformats.org/officeDocument/2006/relationships/chart" Target="/ppt/slides/charts/chart2.xml" Id="R088e5fa66dd94e6b" /><Relationship Type="http://schemas.openxmlformats.org/officeDocument/2006/relationships/notesSlide" Target="/ppt/notesSlides/notesSlide5.xml" Id="Rb28cd81293cc47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243C45"/>
                </a:solidFill>
                <a:latin typeface="Arial"/>
                <a:ea typeface="Arial"/>
                <a:cs typeface="Arial"/>
              </a:rPr>
              <a:t>Полные дни, %</a:t>
            </a:r>
          </a:p>
        </c:rich>
      </c:tx>
      <c:overlay val="0"/>
      <c:txPr>
        <a:bodyPr xmlns:a="http://schemas.openxmlformats.org/drawingml/2006/main" anchorCtr="1"/>
        <a:lstStyle xmlns:a="http://schemas.openxmlformats.org/drawingml/2006/main"/>
        <a:p xmlns:a="http://schemas.openxmlformats.org/drawingml/2006/main">
          <a:pPr>
            <a:defRPr sz="1950">
              <a:solidFill>
                <a:srgbClr val="243C45"/>
              </a:solidFill>
              <a:latin typeface="Arial"/>
              <a:ea typeface="Arial"/>
              <a:cs typeface="Arial"/>
            </a:defRPr>
          </a:pPr>
        </a:p>
      </c:txPr>
    </c:title>
    <c:plotArea>
      <c:barChart>
        <c:barDir val="bar"/>
        <c:grouping val="clustered"/>
        <c:varyColors val="0"/>
        <c:ser>
          <c:idx val="0"/>
          <c:order val="0"/>
          <c:tx>
            <c:v>Полные дни</c:v>
          </c:tx>
          <c:spPr>
            <a:solidFill xmlns:a="http://schemas.openxmlformats.org/drawingml/2006/main">
              <a:srgbClr val="277978"/>
            </a:solidFill>
          </c:spPr>
          <c:invertIfNegative val="0"/>
          <c:cat>
            <c:strRef>
              <c:f>'Chart Data'!$A$2:$A$5</c:f>
              <c:strCache>
                <c:ptCount val="4"/>
                <c:pt idx="0">
                  <c:v>Первый канал</c:v>
                </c:pt>
                <c:pt idx="1">
                  <c:v>НТВ</c:v>
                </c:pt>
                <c:pt idx="2">
                  <c:v>Россия 1</c:v>
                </c:pt>
                <c:pt idx="3">
                  <c:v>Россия 24</c:v>
                </c:pt>
              </c:strCache>
            </c:strRef>
          </c:cat>
          <c:val>
            <c:numRef>
              <c:f>'Chart Data'!$B$2:$B$5</c:f>
              <c:numCache>
                <c:formatCode>0</c:formatCode>
                <c:ptCount val="4"/>
                <c:pt idx="0">
                  <c:v>97.0824</c:v>
                </c:pt>
                <c:pt idx="1">
                  <c:v>98.2495</c:v>
                </c:pt>
                <c:pt idx="2">
                  <c:v>96.2071</c:v>
                </c:pt>
                <c:pt idx="3">
                  <c:v>97.5201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FCFBF8"/>
                  </a:solidFill>
                  <a:latin typeface="Arial"/>
                  <a:ea typeface="Arial"/>
                  <a:cs typeface="Arial"/>
                </a:defRPr>
              </a:pPr>
            </a:p>
          </c:txPr>
          <c:dLblPos val="in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243C45"/>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4763">
              <a:solidFill>
                <a:srgbClr val="DFE4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718087"/>
                </a:solidFill>
                <a:latin typeface="Arial"/>
                <a:ea typeface="Arial"/>
                <a:cs typeface="Arial"/>
              </a:defRPr>
            </a:pPr>
          </a:p>
        </c:txPr>
        <c:crossAx val="48650112"/>
        <c:crossBetween val="between"/>
        <c:majorUnit val="25"/>
      </c:valAx>
      <c:spPr>
        <a:solidFill xmlns:a="http://schemas.openxmlformats.org/drawingml/2006/main">
          <a:srgbClr val="FCFBF8"/>
        </a:solidFill>
      </c:spPr>
    </c:plotArea>
    <c:plotVisOnly val="1"/>
  </c:chart>
  <c:spPr>
    <a:solidFill xmlns:a="http://schemas.openxmlformats.org/drawingml/2006/main">
      <a:srgbClr val="FCFB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243C45"/>
                </a:solidFill>
                <a:latin typeface="Arial"/>
                <a:ea typeface="Arial"/>
                <a:cs typeface="Arial"/>
              </a:rPr>
              <a:t>Улучшение дневной CRPS, %</a:t>
            </a:r>
          </a:p>
        </c:rich>
      </c:tx>
      <c:overlay val="0"/>
      <c:txPr>
        <a:bodyPr xmlns:a="http://schemas.openxmlformats.org/drawingml/2006/main" anchorCtr="1"/>
        <a:lstStyle xmlns:a="http://schemas.openxmlformats.org/drawingml/2006/main"/>
        <a:p xmlns:a="http://schemas.openxmlformats.org/drawingml/2006/main">
          <a:pPr>
            <a:defRPr sz="1950">
              <a:solidFill>
                <a:srgbClr val="243C45"/>
              </a:solidFill>
              <a:latin typeface="Arial"/>
              <a:ea typeface="Arial"/>
              <a:cs typeface="Arial"/>
            </a:defRPr>
          </a:pPr>
        </a:p>
      </c:txPr>
    </c:title>
    <c:plotArea>
      <c:barChart>
        <c:barDir val="bar"/>
        <c:grouping val="clustered"/>
        <c:varyColors val="0"/>
        <c:ser>
          <c:idx val="0"/>
          <c:order val="0"/>
          <c:tx>
            <c:v>CRPS</c:v>
          </c:tx>
          <c:spPr>
            <a:solidFill xmlns:a="http://schemas.openxmlformats.org/drawingml/2006/main">
              <a:srgbClr val="AFB9BA"/>
            </a:solidFill>
          </c:spPr>
          <c:invertIfNegative val="0"/>
          <c:dPt>
            <c:idx val="2"/>
            <c:invertIfNegative val="0"/>
            <c:spPr>
              <a:solidFill xmlns:a="http://schemas.openxmlformats.org/drawingml/2006/main">
                <a:srgbClr val="277978"/>
              </a:solidFill>
            </c:spPr>
          </c:dPt>
          <c:cat>
            <c:strRef>
              <c:f>'Chart Data'!$A$2:$A$6</c:f>
              <c:strCache>
                <c:ptCount val="5"/>
                <c:pt idx="0">
                  <c:v>M1</c:v>
                </c:pt>
                <c:pt idx="1">
                  <c:v>M2</c:v>
                </c:pt>
                <c:pt idx="2">
                  <c:v>M3</c:v>
                </c:pt>
                <c:pt idx="3">
                  <c:v>M4</c:v>
                </c:pt>
                <c:pt idx="4">
                  <c:v>Смесь</c:v>
                </c:pt>
              </c:strCache>
            </c:strRef>
          </c:cat>
          <c:val>
            <c:numRef>
              <c:f>'Chart Data'!$B$2:$B$6</c:f>
              <c:numCache>
                <c:formatCode>0</c:formatCode>
                <c:ptCount val="5"/>
                <c:pt idx="0">
                  <c:v>0</c:v>
                </c:pt>
                <c:pt idx="1">
                  <c:v>6.8298</c:v>
                </c:pt>
                <c:pt idx="2">
                  <c:v>10.1767</c:v>
                </c:pt>
                <c:pt idx="3">
                  <c:v>10.0995</c:v>
                </c:pt>
                <c:pt idx="4">
                  <c:v>8.8466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243C45"/>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243C45"/>
                </a:solidFill>
                <a:latin typeface="Arial"/>
                <a:ea typeface="Arial"/>
                <a:cs typeface="Arial"/>
              </a:defRPr>
            </a:pPr>
          </a:p>
        </c:txPr>
        <c:crossAx val="48672768"/>
      </c:catAx>
      <c:valAx>
        <c:axId val="48672768"/>
        <c:scaling>
          <c:orientation val="minMax"/>
          <c:max val="14"/>
          <c:min val="0"/>
        </c:scaling>
        <c:delete val="0"/>
        <c:axPos val="b"/>
        <c:majorGridlines>
          <c:spPr>
            <a:ln xmlns:a="http://schemas.openxmlformats.org/drawingml/2006/main" w="4763">
              <a:solidFill>
                <a:srgbClr val="DFE4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718087"/>
                </a:solidFill>
                <a:latin typeface="Arial"/>
                <a:ea typeface="Arial"/>
                <a:cs typeface="Arial"/>
              </a:defRPr>
            </a:pPr>
          </a:p>
        </c:txPr>
        <c:crossAx val="48650112"/>
        <c:crossBetween val="between"/>
        <c:majorUnit val="2"/>
      </c:valAx>
      <c:spPr>
        <a:solidFill xmlns:a="http://schemas.openxmlformats.org/drawingml/2006/main">
          <a:srgbClr val="FCFBF8"/>
        </a:solidFill>
      </c:spPr>
    </c:plotArea>
    <c:plotVisOnly val="1"/>
  </c:chart>
  <c:spPr>
    <a:solidFill xmlns:a="http://schemas.openxmlformats.org/drawingml/2006/main">
      <a:srgbClr val="FCFB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CA720FD8-F119-44ED-A4E3-FC1B587B4975}"/>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857646FE-2240-4F8B-8DB4-7BD78F872617}"/>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ПРОЕКТ ПО ПРОГНОЗИРОВАНИЮ</a:t>
            </a:r>
          </a:p>
        </p:txBody>
      </p:sp>
      <p:sp>
        <p:nvSpPr>
          <p:cNvPr id="3" name="main-title">
            <a:extLst xmlns:a="http://schemas.openxmlformats.org/drawingml/2006/main">
              <a:ext uri="{FF2B5EF4-FFF2-40B4-BE49-F238E27FC236}">
                <a16:creationId xmlns:a16="http://schemas.microsoft.com/office/drawing/2014/main" id="{05504F04-2594-4682-A9AB-252CD7638C3D}"/>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Ленин и Сталин</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в телеэфире</a:t>
            </a:r>
          </a:p>
        </p:txBody>
      </p:sp>
      <p:sp>
        <p:nvSpPr>
          <p:cNvPr id="4" name="motivation">
            <a:extLst xmlns:a="http://schemas.openxmlformats.org/drawingml/2006/main">
              <a:ext uri="{FF2B5EF4-FFF2-40B4-BE49-F238E27FC236}">
                <a16:creationId xmlns:a16="http://schemas.microsoft.com/office/drawing/2014/main" id="{250AB2E7-D751-472C-A960-87207F9C17DF}"/>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Прогнозируем присутствие советских лидеров</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в телевизионной риторике</a:t>
            </a:r>
          </a:p>
        </p:txBody>
      </p:sp>
      <p:sp>
        <p:nvSpPr>
          <p:cNvPr id="5" name="targets">
            <a:extLst xmlns:a="http://schemas.openxmlformats.org/drawingml/2006/main">
              <a:ext uri="{FF2B5EF4-FFF2-40B4-BE49-F238E27FC236}">
                <a16:creationId xmlns:a16="http://schemas.microsoft.com/office/drawing/2014/main" id="{D014CFFD-0F27-43A0-9B63-D40DDFC1BE0F}"/>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Число упоминаний фамилии и число записей с упоминанием</a:t>
            </a:r>
          </a:p>
        </p:txBody>
      </p:sp>
      <p:sp>
        <p:nvSpPr>
          <p:cNvPr id="6" name="forecast-period">
            <a:extLst xmlns:a="http://schemas.openxmlformats.org/drawingml/2006/main">
              <a:ext uri="{FF2B5EF4-FFF2-40B4-BE49-F238E27FC236}">
                <a16:creationId xmlns:a16="http://schemas.microsoft.com/office/drawing/2014/main" id="{C5D5239B-5A2D-4A8E-9A5F-5A59686BAA6D}"/>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октября – 2 ноября 2026</a:t>
            </a:r>
          </a:p>
        </p:txBody>
      </p:sp>
      <p:sp>
        <p:nvSpPr>
          <p:cNvPr id="7" name="team">
            <a:extLst xmlns:a="http://schemas.openxmlformats.org/drawingml/2006/main">
              <a:ext uri="{FF2B5EF4-FFF2-40B4-BE49-F238E27FC236}">
                <a16:creationId xmlns:a16="http://schemas.microsoft.com/office/drawing/2014/main" id="{FF970955-D8FB-44EB-A5EE-50654A7F1524}"/>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Купча Софья, Пальцева Ксения</a:t>
            </a:r>
          </a:p>
        </p:txBody>
      </p:sp>
    </p:spTree>
    <p:extLst>
      <p:ext uri="{BB962C8B-B14F-4D97-AF65-F5344CB8AC3E}">
        <p14:creationId xmlns:p14="http://schemas.microsoft.com/office/powerpoint/2010/main" val="618044746"/>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836A146-E368-468F-B83A-2315AF9D73C3}"/>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Данные и смысл упоминания</a:t>
            </a:r>
          </a:p>
        </p:txBody>
      </p:sp>
      <p:sp>
        <p:nvSpPr>
          <p:cNvPr id="2" name="page-number">
            <a:extLst xmlns:a="http://schemas.openxmlformats.org/drawingml/2006/main">
              <a:ext uri="{FF2B5EF4-FFF2-40B4-BE49-F238E27FC236}">
                <a16:creationId xmlns:a16="http://schemas.microsoft.com/office/drawing/2014/main" id="{B4E7906A-F860-4B57-8A14-F851AE0C6549}"/>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88E37D6F-118E-4706-BFDA-99821733C12B}"/>
              </a:ext>
            </a:extLst>
          </p:cNvPr>
          <p:cNvSpPr>
            <a:spLocks xmlns:a="http://schemas.openxmlformats.org/drawingml/2006/main" noGrp="1"/>
          </p:cNvSpPr>
          <p:nvPr/>
        </p:nvSpPr>
        <p:spPr>
          <a:xfrm xmlns:a="http://schemas.openxmlformats.org/drawingml/2006/main">
            <a:off x="685800" y="12668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718087"/>
                </a:solidFill>
                <a:latin typeface="Arial"/>
                <a:ea typeface="Arial"/>
                <a:cs typeface="Arial"/>
              </a:defRPr>
            </a:defPPr>
            <a:lvl1pPr>
              <a:defRPr sz="2025" b="0">
                <a:solidFill>
                  <a:srgbClr val="718087"/>
                </a:solidFill>
                <a:latin typeface="Arial"/>
                <a:ea typeface="Arial"/>
                <a:cs typeface="Arial"/>
              </a:defRPr>
            </a:lvl1pPr>
            <a:lvl2pPr>
              <a:defRPr sz="2025" b="0">
                <a:solidFill>
                  <a:srgbClr val="718087"/>
                </a:solidFill>
                <a:latin typeface="Arial"/>
                <a:ea typeface="Arial"/>
                <a:cs typeface="Arial"/>
              </a:defRPr>
            </a:lvl2pPr>
            <a:lvl3pPr>
              <a:defRPr sz="2025" b="0">
                <a:solidFill>
                  <a:srgbClr val="718087"/>
                </a:solidFill>
                <a:latin typeface="Arial"/>
                <a:ea typeface="Arial"/>
                <a:cs typeface="Arial"/>
              </a:defRPr>
            </a:lvl3pPr>
            <a:lvl4pPr>
              <a:defRPr sz="2025" b="0">
                <a:solidFill>
                  <a:srgbClr val="718087"/>
                </a:solidFill>
                <a:latin typeface="Arial"/>
                <a:ea typeface="Arial"/>
                <a:cs typeface="Arial"/>
              </a:defRPr>
            </a:lvl4pPr>
            <a:lvl5pPr>
              <a:defRPr sz="2025" b="0">
                <a:solidFill>
                  <a:srgbClr val="718087"/>
                </a:solidFill>
                <a:latin typeface="Arial"/>
                <a:ea typeface="Arial"/>
                <a:cs typeface="Arial"/>
              </a:defRPr>
            </a:lvl5pPr>
            <a:lvl6pPr>
              <a:defRPr sz="2025" b="0">
                <a:solidFill>
                  <a:srgbClr val="718087"/>
                </a:solidFill>
                <a:latin typeface="Arial"/>
                <a:ea typeface="Arial"/>
                <a:cs typeface="Arial"/>
              </a:defRPr>
            </a:lvl6pPr>
            <a:lvl7pPr>
              <a:defRPr sz="2025" b="0">
                <a:solidFill>
                  <a:srgbClr val="718087"/>
                </a:solidFill>
                <a:latin typeface="Arial"/>
                <a:ea typeface="Arial"/>
                <a:cs typeface="Arial"/>
              </a:defRPr>
            </a:lvl7pPr>
            <a:lvl8pPr>
              <a:defRPr sz="2025" b="0">
                <a:solidFill>
                  <a:srgbClr val="718087"/>
                </a:solidFill>
                <a:latin typeface="Arial"/>
                <a:ea typeface="Arial"/>
                <a:cs typeface="Arial"/>
              </a:defRPr>
            </a:lvl8pPr>
            <a:lvl9pPr>
              <a:defRPr sz="2025" b="0">
                <a:solidFill>
                  <a:srgbClr val="718087"/>
                </a:solidFill>
                <a:latin typeface="Arial"/>
                <a:ea typeface="Arial"/>
                <a:cs typeface="Arial"/>
              </a:defRPr>
            </a:lvl9pPr>
          </a:lstStyle>
          <a:p xmlns:a="http://schemas.openxmlformats.org/drawingml/2006/main">
            <a:pPr>
              <a:defRPr sz="2025" b="0">
                <a:solidFill>
                  <a:srgbClr val="718087"/>
                </a:solidFill>
                <a:latin typeface="Arial"/>
                <a:ea typeface="Arial"/>
                <a:cs typeface="Arial"/>
              </a:defRPr>
            </a:pPr>
            <a:r>
              <a:rPr sz="2025" b="0">
                <a:solidFill>
                  <a:srgbClr val="718087"/>
                </a:solidFill>
                <a:latin typeface="Arial"/>
                <a:ea typeface="Arial"/>
                <a:cs typeface="Arial"/>
              </a:rPr>
              <a:t>GDELT, январь 2023 – 2 октября 2026</a:t>
            </a:r>
          </a:p>
        </p:txBody>
      </p:sp>
      <p:sp>
        <p:nvSpPr>
          <p:cNvPr id="4" name="full-days">
            <a:extLst xmlns:a="http://schemas.openxmlformats.org/drawingml/2006/main">
              <a:ext uri="{FF2B5EF4-FFF2-40B4-BE49-F238E27FC236}">
                <a16:creationId xmlns:a16="http://schemas.microsoft.com/office/drawing/2014/main" id="{FED50763-16E6-4216-A712-2AE2F5B55299}"/>
              </a:ext>
            </a:extLst>
          </p:cNvPr>
          <p:cNvSpPr>
            <a:spLocks xmlns:a="http://schemas.openxmlformats.org/drawingml/2006/main" noGrp="1"/>
          </p:cNvSpPr>
          <p:nvPr/>
        </p:nvSpPr>
        <p:spPr>
          <a:xfrm xmlns:a="http://schemas.openxmlformats.org/drawingml/2006/main">
            <a:off x="685800" y="209550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4050" b="0">
                <a:solidFill>
                  <a:srgbClr val="243C45"/>
                </a:solidFill>
                <a:latin typeface="Arial"/>
                <a:ea typeface="Arial"/>
                <a:cs typeface="Arial"/>
              </a:defRPr>
            </a:defPPr>
            <a:lvl1pPr>
              <a:defRPr sz="4050" b="0">
                <a:solidFill>
                  <a:srgbClr val="243C45"/>
                </a:solidFill>
                <a:latin typeface="Arial"/>
                <a:ea typeface="Arial"/>
                <a:cs typeface="Arial"/>
              </a:defRPr>
            </a:lvl1pPr>
            <a:lvl2pPr>
              <a:defRPr sz="4050" b="0">
                <a:solidFill>
                  <a:srgbClr val="243C45"/>
                </a:solidFill>
                <a:latin typeface="Arial"/>
                <a:ea typeface="Arial"/>
                <a:cs typeface="Arial"/>
              </a:defRPr>
            </a:lvl2pPr>
            <a:lvl3pPr>
              <a:defRPr sz="4050" b="0">
                <a:solidFill>
                  <a:srgbClr val="243C45"/>
                </a:solidFill>
                <a:latin typeface="Arial"/>
                <a:ea typeface="Arial"/>
                <a:cs typeface="Arial"/>
              </a:defRPr>
            </a:lvl3pPr>
            <a:lvl4pPr>
              <a:defRPr sz="4050" b="0">
                <a:solidFill>
                  <a:srgbClr val="243C45"/>
                </a:solidFill>
                <a:latin typeface="Arial"/>
                <a:ea typeface="Arial"/>
                <a:cs typeface="Arial"/>
              </a:defRPr>
            </a:lvl4pPr>
            <a:lvl5pPr>
              <a:defRPr sz="4050" b="0">
                <a:solidFill>
                  <a:srgbClr val="243C45"/>
                </a:solidFill>
                <a:latin typeface="Arial"/>
                <a:ea typeface="Arial"/>
                <a:cs typeface="Arial"/>
              </a:defRPr>
            </a:lvl5pPr>
            <a:lvl6pPr>
              <a:defRPr sz="4050" b="0">
                <a:solidFill>
                  <a:srgbClr val="243C45"/>
                </a:solidFill>
                <a:latin typeface="Arial"/>
                <a:ea typeface="Arial"/>
                <a:cs typeface="Arial"/>
              </a:defRPr>
            </a:lvl6pPr>
            <a:lvl7pPr>
              <a:defRPr sz="4050" b="0">
                <a:solidFill>
                  <a:srgbClr val="243C45"/>
                </a:solidFill>
                <a:latin typeface="Arial"/>
                <a:ea typeface="Arial"/>
                <a:cs typeface="Arial"/>
              </a:defRPr>
            </a:lvl7pPr>
            <a:lvl8pPr>
              <a:defRPr sz="4050" b="0">
                <a:solidFill>
                  <a:srgbClr val="243C45"/>
                </a:solidFill>
                <a:latin typeface="Arial"/>
                <a:ea typeface="Arial"/>
                <a:cs typeface="Arial"/>
              </a:defRPr>
            </a:lvl8pPr>
            <a:lvl9pPr>
              <a:defRPr sz="4050" b="0">
                <a:solidFill>
                  <a:srgbClr val="243C45"/>
                </a:solidFill>
                <a:latin typeface="Arial"/>
                <a:ea typeface="Arial"/>
                <a:cs typeface="Arial"/>
              </a:defRPr>
            </a:lvl9pPr>
          </a:lstStyle>
          <a:p xmlns:a="http://schemas.openxmlformats.org/drawingml/2006/main">
            <a:pPr>
              <a:defRPr sz="4050" b="0">
                <a:solidFill>
                  <a:srgbClr val="243C45"/>
                </a:solidFill>
                <a:latin typeface="Arial"/>
                <a:ea typeface="Arial"/>
                <a:cs typeface="Arial"/>
              </a:defRPr>
            </a:pPr>
            <a:r>
              <a:rPr sz="4050" b="0">
                <a:solidFill>
                  <a:srgbClr val="243C45"/>
                </a:solidFill>
                <a:latin typeface="Arial"/>
                <a:ea typeface="Arial"/>
                <a:cs typeface="Arial"/>
              </a:rPr>
              <a:t>5 334 из 5 484</a:t>
            </a:r>
          </a:p>
        </p:txBody>
      </p:sp>
      <p:sp>
        <p:nvSpPr>
          <p:cNvPr id="5" name="full-days-label">
            <a:extLst xmlns:a="http://schemas.openxmlformats.org/drawingml/2006/main">
              <a:ext uri="{FF2B5EF4-FFF2-40B4-BE49-F238E27FC236}">
                <a16:creationId xmlns:a16="http://schemas.microsoft.com/office/drawing/2014/main" id="{CFEB1BB3-7553-4701-9967-11797F3EAEC7}"/>
              </a:ext>
            </a:extLst>
          </p:cNvPr>
          <p:cNvSpPr>
            <a:spLocks xmlns:a="http://schemas.openxmlformats.org/drawingml/2006/main" noGrp="1"/>
          </p:cNvSpPr>
          <p:nvPr/>
        </p:nvSpPr>
        <p:spPr>
          <a:xfrm xmlns:a="http://schemas.openxmlformats.org/drawingml/2006/main">
            <a:off x="714375" y="28575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43C45"/>
                </a:solidFill>
                <a:latin typeface="Arial"/>
                <a:ea typeface="Arial"/>
                <a:cs typeface="Arial"/>
              </a:defRPr>
            </a:defPPr>
            <a:lvl1pPr>
              <a:defRPr sz="2025" b="0">
                <a:solidFill>
                  <a:srgbClr val="243C45"/>
                </a:solidFill>
                <a:latin typeface="Arial"/>
                <a:ea typeface="Arial"/>
                <a:cs typeface="Arial"/>
              </a:defRPr>
            </a:lvl1pPr>
            <a:lvl2pPr>
              <a:defRPr sz="2025" b="0">
                <a:solidFill>
                  <a:srgbClr val="243C45"/>
                </a:solidFill>
                <a:latin typeface="Arial"/>
                <a:ea typeface="Arial"/>
                <a:cs typeface="Arial"/>
              </a:defRPr>
            </a:lvl2pPr>
            <a:lvl3pPr>
              <a:defRPr sz="2025" b="0">
                <a:solidFill>
                  <a:srgbClr val="243C45"/>
                </a:solidFill>
                <a:latin typeface="Arial"/>
                <a:ea typeface="Arial"/>
                <a:cs typeface="Arial"/>
              </a:defRPr>
            </a:lvl3pPr>
            <a:lvl4pPr>
              <a:defRPr sz="2025" b="0">
                <a:solidFill>
                  <a:srgbClr val="243C45"/>
                </a:solidFill>
                <a:latin typeface="Arial"/>
                <a:ea typeface="Arial"/>
                <a:cs typeface="Arial"/>
              </a:defRPr>
            </a:lvl4pPr>
            <a:lvl5pPr>
              <a:defRPr sz="2025" b="0">
                <a:solidFill>
                  <a:srgbClr val="243C45"/>
                </a:solidFill>
                <a:latin typeface="Arial"/>
                <a:ea typeface="Arial"/>
                <a:cs typeface="Arial"/>
              </a:defRPr>
            </a:lvl5pPr>
            <a:lvl6pPr>
              <a:defRPr sz="2025" b="0">
                <a:solidFill>
                  <a:srgbClr val="243C45"/>
                </a:solidFill>
                <a:latin typeface="Arial"/>
                <a:ea typeface="Arial"/>
                <a:cs typeface="Arial"/>
              </a:defRPr>
            </a:lvl6pPr>
            <a:lvl7pPr>
              <a:defRPr sz="2025" b="0">
                <a:solidFill>
                  <a:srgbClr val="243C45"/>
                </a:solidFill>
                <a:latin typeface="Arial"/>
                <a:ea typeface="Arial"/>
                <a:cs typeface="Arial"/>
              </a:defRPr>
            </a:lvl7pPr>
            <a:lvl8pPr>
              <a:defRPr sz="2025" b="0">
                <a:solidFill>
                  <a:srgbClr val="243C45"/>
                </a:solidFill>
                <a:latin typeface="Arial"/>
                <a:ea typeface="Arial"/>
                <a:cs typeface="Arial"/>
              </a:defRPr>
            </a:lvl8pPr>
            <a:lvl9pPr>
              <a:defRPr sz="2025" b="0">
                <a:solidFill>
                  <a:srgbClr val="243C45"/>
                </a:solidFill>
                <a:latin typeface="Arial"/>
                <a:ea typeface="Arial"/>
                <a:cs typeface="Arial"/>
              </a:defRPr>
            </a:lvl9pPr>
          </a:lstStyle>
          <a:p xmlns:a="http://schemas.openxmlformats.org/drawingml/2006/main">
            <a:pPr>
              <a:defRPr sz="2025" b="0">
                <a:solidFill>
                  <a:srgbClr val="243C45"/>
                </a:solidFill>
                <a:latin typeface="Arial"/>
                <a:ea typeface="Arial"/>
                <a:cs typeface="Arial"/>
              </a:defRPr>
            </a:pPr>
            <a:r>
              <a:rPr sz="2025" b="0">
                <a:solidFill>
                  <a:srgbClr val="243C45"/>
                </a:solidFill>
                <a:latin typeface="Arial"/>
                <a:ea typeface="Arial"/>
                <a:cs typeface="Arial"/>
              </a:rPr>
              <a:t>полных дней канала</a:t>
            </a:r>
          </a:p>
        </p:txBody>
      </p:sp>
      <p:sp>
        <p:nvSpPr>
          <p:cNvPr id="6" name="missing">
            <a:extLst xmlns:a="http://schemas.openxmlformats.org/drawingml/2006/main">
              <a:ext uri="{FF2B5EF4-FFF2-40B4-BE49-F238E27FC236}">
                <a16:creationId xmlns:a16="http://schemas.microsoft.com/office/drawing/2014/main" id="{642ADEAD-32C7-4746-92AE-0897C4EF01D4}"/>
              </a:ext>
            </a:extLst>
          </p:cNvPr>
          <p:cNvSpPr>
            <a:spLocks xmlns:a="http://schemas.openxmlformats.org/drawingml/2006/main" noGrp="1"/>
          </p:cNvSpPr>
          <p:nvPr/>
        </p:nvSpPr>
        <p:spPr>
          <a:xfrm xmlns:a="http://schemas.openxmlformats.org/drawingml/2006/main">
            <a:off x="714375" y="3486150"/>
            <a:ext cx="533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150 неполных дней исключаем</a:t>
            </a:r>
          </a:p>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из обучения и оценки</a:t>
            </a:r>
          </a:p>
        </p:txBody>
      </p:sp>
      <p:sp>
        <p:nvSpPr>
          <p:cNvPr id="7" name="context">
            <a:extLst xmlns:a="http://schemas.openxmlformats.org/drawingml/2006/main">
              <a:ext uri="{FF2B5EF4-FFF2-40B4-BE49-F238E27FC236}">
                <a16:creationId xmlns:a16="http://schemas.microsoft.com/office/drawing/2014/main" id="{D2FF678F-609D-41F2-A6C0-2AC862E18D05}"/>
              </a:ext>
            </a:extLst>
          </p:cNvPr>
          <p:cNvSpPr>
            <a:spLocks xmlns:a="http://schemas.openxmlformats.org/drawingml/2006/main" noGrp="1"/>
          </p:cNvSpPr>
          <p:nvPr/>
        </p:nvSpPr>
        <p:spPr>
          <a:xfrm xmlns:a="http://schemas.openxmlformats.org/drawingml/2006/main">
            <a:off x="714375" y="453390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0">
                <a:solidFill>
                  <a:srgbClr val="B46A48"/>
                </a:solidFill>
                <a:latin typeface="Arial"/>
                <a:ea typeface="Arial"/>
                <a:cs typeface="Arial"/>
              </a:defRPr>
            </a:defPPr>
            <a:lvl1pPr>
              <a:defRPr sz="2100" b="0">
                <a:solidFill>
                  <a:srgbClr val="B46A48"/>
                </a:solidFill>
                <a:latin typeface="Arial"/>
                <a:ea typeface="Arial"/>
                <a:cs typeface="Arial"/>
              </a:defRPr>
            </a:lvl1pPr>
            <a:lvl2pPr>
              <a:defRPr sz="2100" b="0">
                <a:solidFill>
                  <a:srgbClr val="B46A48"/>
                </a:solidFill>
                <a:latin typeface="Arial"/>
                <a:ea typeface="Arial"/>
                <a:cs typeface="Arial"/>
              </a:defRPr>
            </a:lvl2pPr>
            <a:lvl3pPr>
              <a:defRPr sz="2100" b="0">
                <a:solidFill>
                  <a:srgbClr val="B46A48"/>
                </a:solidFill>
                <a:latin typeface="Arial"/>
                <a:ea typeface="Arial"/>
                <a:cs typeface="Arial"/>
              </a:defRPr>
            </a:lvl3pPr>
            <a:lvl4pPr>
              <a:defRPr sz="2100" b="0">
                <a:solidFill>
                  <a:srgbClr val="B46A48"/>
                </a:solidFill>
                <a:latin typeface="Arial"/>
                <a:ea typeface="Arial"/>
                <a:cs typeface="Arial"/>
              </a:defRPr>
            </a:lvl4pPr>
            <a:lvl5pPr>
              <a:defRPr sz="2100" b="0">
                <a:solidFill>
                  <a:srgbClr val="B46A48"/>
                </a:solidFill>
                <a:latin typeface="Arial"/>
                <a:ea typeface="Arial"/>
                <a:cs typeface="Arial"/>
              </a:defRPr>
            </a:lvl5pPr>
            <a:lvl6pPr>
              <a:defRPr sz="2100" b="0">
                <a:solidFill>
                  <a:srgbClr val="B46A48"/>
                </a:solidFill>
                <a:latin typeface="Arial"/>
                <a:ea typeface="Arial"/>
                <a:cs typeface="Arial"/>
              </a:defRPr>
            </a:lvl6pPr>
            <a:lvl7pPr>
              <a:defRPr sz="2100" b="0">
                <a:solidFill>
                  <a:srgbClr val="B46A48"/>
                </a:solidFill>
                <a:latin typeface="Arial"/>
                <a:ea typeface="Arial"/>
                <a:cs typeface="Arial"/>
              </a:defRPr>
            </a:lvl7pPr>
            <a:lvl8pPr>
              <a:defRPr sz="2100" b="0">
                <a:solidFill>
                  <a:srgbClr val="B46A48"/>
                </a:solidFill>
                <a:latin typeface="Arial"/>
                <a:ea typeface="Arial"/>
                <a:cs typeface="Arial"/>
              </a:defRPr>
            </a:lvl8pPr>
            <a:lvl9pPr>
              <a:defRPr sz="2100" b="0">
                <a:solidFill>
                  <a:srgbClr val="B46A48"/>
                </a:solidFill>
                <a:latin typeface="Arial"/>
                <a:ea typeface="Arial"/>
                <a:cs typeface="Arial"/>
              </a:defRPr>
            </a:lvl9pPr>
          </a:lstStyle>
          <a:p xmlns:a="http://schemas.openxmlformats.org/drawingml/2006/main">
            <a:pPr>
              <a:defRPr sz="2100" b="0">
                <a:solidFill>
                  <a:srgbClr val="B46A48"/>
                </a:solidFill>
                <a:latin typeface="Arial"/>
                <a:ea typeface="Arial"/>
                <a:cs typeface="Arial"/>
              </a:defRPr>
            </a:pPr>
            <a:r>
              <a:rPr sz="2100" b="0">
                <a:solidFill>
                  <a:srgbClr val="B46A48"/>
                </a:solidFill>
                <a:latin typeface="Arial"/>
                <a:ea typeface="Arial"/>
                <a:cs typeface="Arial"/>
              </a:rPr>
              <a:t>Ленин и площадь Ленина</a:t>
            </a:r>
          </a:p>
          <a:p xmlns:a="http://schemas.openxmlformats.org/drawingml/2006/main">
            <a:pPr>
              <a:defRPr sz="2100" b="0">
                <a:solidFill>
                  <a:srgbClr val="B46A48"/>
                </a:solidFill>
                <a:latin typeface="Arial"/>
                <a:ea typeface="Arial"/>
                <a:cs typeface="Arial"/>
              </a:defRPr>
            </a:pPr>
            <a:r>
              <a:rPr sz="2100" b="0">
                <a:solidFill>
                  <a:srgbClr val="B46A48"/>
                </a:solidFill>
                <a:latin typeface="Arial"/>
                <a:ea typeface="Arial"/>
                <a:cs typeface="Arial"/>
              </a:rPr>
              <a:t>получают разные метки</a:t>
            </a:r>
          </a:p>
        </p:txBody>
      </p:sp>
      <p:graphicFrame>
        <p:nvGraphicFramePr>
          <p:cNvPr id="8" name="Chart">
            <a:extLst xmlns:a="http://schemas.openxmlformats.org/drawingml/2006/main">
              <a:ext uri="{FF2B5EF4-FFF2-40B4-BE49-F238E27FC236}">
                <a16:creationId xmlns:a16="http://schemas.microsoft.com/office/drawing/2014/main" id="{73226F09-D3CD-45FD-82F6-A9FA849F2664}"/>
              </a:ext>
            </a:extLst>
          </p:cNvPr>
          <p:cNvGraphicFramePr/>
          <p:nvPr/>
        </p:nvGraphicFramePr>
        <p:xfrm>
          <a:off xmlns:a="http://schemas.openxmlformats.org/drawingml/2006/main" x="6524625" y="2047875"/>
          <a:ext xmlns:a="http://schemas.openxmlformats.org/drawingml/2006/main" cx="4905375" cy="3238500"/>
        </p:xfrm>
        <a:graphic xmlns:a="http://schemas.openxmlformats.org/drawingml/2006/main">
          <a:graphicData uri="http://schemas.openxmlformats.org/drawingml/2006/chart">
            <c:chart xmlns:r="http://schemas.openxmlformats.org/officeDocument/2006/relationships" xmlns:c="http://schemas.openxmlformats.org/drawingml/2006/chart" r:id="R79f93e66b93c4778"/>
          </a:graphicData>
        </a:graphic>
      </p:graphicFrame>
      <p:sp>
        <p:nvSpPr>
          <p:cNvPr id="9" name="measurement-caveat">
            <a:extLst xmlns:a="http://schemas.openxmlformats.org/drawingml/2006/main">
              <a:ext uri="{FF2B5EF4-FFF2-40B4-BE49-F238E27FC236}">
                <a16:creationId xmlns:a16="http://schemas.microsoft.com/office/drawing/2014/main" id="{496EBE17-6A04-44B0-B907-DFFBC00EF822}"/>
              </a:ext>
            </a:extLst>
          </p:cNvPr>
          <p:cNvSpPr>
            <a:spLocks xmlns:a="http://schemas.openxmlformats.org/drawingml/2006/main" noGrp="1"/>
          </p:cNvSpPr>
          <p:nvPr/>
        </p:nvSpPr>
        <p:spPr>
          <a:xfrm xmlns:a="http://schemas.openxmlformats.org/drawingml/2006/main">
            <a:off x="714375"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Контекстные правила предварительны. Неясные случаи проверяем отдельным сценарием.</a:t>
            </a:r>
          </a:p>
        </p:txBody>
      </p:sp>
    </p:spTree>
    <p:extLst>
      <p:ext uri="{BB962C8B-B14F-4D97-AF65-F5344CB8AC3E}">
        <p14:creationId xmlns:p14="http://schemas.microsoft.com/office/powerpoint/2010/main" val="1686943295"/>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5DF8A25-7FFD-4C93-84F7-8A03C48239EB}"/>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Прогноз на 31 день</a:t>
            </a:r>
          </a:p>
        </p:txBody>
      </p:sp>
      <p:sp>
        <p:nvSpPr>
          <p:cNvPr id="2" name="page-number">
            <a:extLst xmlns:a="http://schemas.openxmlformats.org/drawingml/2006/main">
              <a:ext uri="{FF2B5EF4-FFF2-40B4-BE49-F238E27FC236}">
                <a16:creationId xmlns:a16="http://schemas.microsoft.com/office/drawing/2014/main" id="{C23889D2-2029-4BB4-8E87-4317F5D0846D}"/>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forecast-subtitle">
            <a:extLst xmlns:a="http://schemas.openxmlformats.org/drawingml/2006/main">
              <a:ext uri="{FF2B5EF4-FFF2-40B4-BE49-F238E27FC236}">
                <a16:creationId xmlns:a16="http://schemas.microsoft.com/office/drawing/2014/main" id="{07FC6461-F299-44C5-8DC3-09CA13A82CC3}"/>
              </a:ext>
            </a:extLst>
          </p:cNvPr>
          <p:cNvSpPr>
            <a:spLocks xmlns:a="http://schemas.openxmlformats.org/drawingml/2006/main" noGrp="1"/>
          </p:cNvSpPr>
          <p:nvPr/>
        </p:nvSpPr>
        <p:spPr>
          <a:xfrm xmlns:a="http://schemas.openxmlformats.org/drawingml/2006/main">
            <a:off x="685800" y="119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3 октября – 2 ноября 2026. Модель M3, календарь и тренд</a:t>
            </a:r>
          </a:p>
        </p:txBody>
      </p:sp>
      <p:graphicFrame>
        <p:nvGraphicFramePr>
          <p:cNvPr id="4" name="">
            <a:extLst xmlns:a="http://schemas.openxmlformats.org/drawingml/2006/main">
              <a:ext uri="{FF2B5EF4-FFF2-40B4-BE49-F238E27FC236}">
                <a16:creationId xmlns:a16="http://schemas.microsoft.com/office/drawing/2014/main" id="{78A2100D-018D-4154-8760-11ED15B1370B}"/>
              </a:ext>
            </a:extLst>
          </p:cNvPr>
          <p:cNvGraphicFramePr/>
          <p:nvPr/>
        </p:nvGraphicFramePr>
        <p:xfrm>
          <a:off xmlns:a="http://schemas.openxmlformats.org/drawingml/2006/main" x="685800" y="1752600"/>
          <a:ext xmlns:a="http://schemas.openxmlformats.org/drawingml/2006/main" cx="10820400" cy="3790950"/>
        </p:xfrm>
        <a:graphic xmlns:a="http://schemas.openxmlformats.org/drawingml/2006/main">
          <a:graphicData uri="http://schemas.openxmlformats.org/drawingml/2006/table">
            <a:tbl>
              <a:tblPr firstRow="0" firstCol="0" bandRow="0"/>
              <a:tblGrid>
                <a:gridCol w="1952625"/>
                <a:gridCol w="1333500"/>
                <a:gridCol w="3190875"/>
                <a:gridCol w="4343400"/>
              </a:tblGrid>
              <a:tr h="590550">
                <a:tc>
                  <a:txBody>
                    <a:bodyPr/>
                    <a:lstStyle/>
                    <a:p>
                      <a:r>
                        <a:rPr sz="1800">
                          <a:solidFill>
                            <a:srgbClr val="718087"/>
                          </a:solidFill>
                          <a:latin typeface="Arial"/>
                          <a:ea typeface="Arial"/>
                          <a:cs typeface="Arial"/>
                        </a:rPr>
                        <a:t>Канал</a:t>
                      </a:r>
                    </a:p>
                  </a:txBody>
                  <a:tcPr marL="76200" marR="76200" marT="47625" marB="47625" anchor="ctr">
                    <a:lnL w="5715">
                      <a:solidFill>
                        <a:srgbClr val="DFE4E1"/>
                      </a:solidFill>
                      <a:prstDash val="solid"/>
                    </a:lnL>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c>
                  <a:txBody>
                    <a:bodyPr/>
                    <a:lstStyle/>
                    <a:p>
                      <a:r>
                        <a:rPr sz="1800">
                          <a:solidFill>
                            <a:srgbClr val="718087"/>
                          </a:solidFill>
                          <a:latin typeface="Arial"/>
                          <a:ea typeface="Arial"/>
                          <a:cs typeface="Arial"/>
                        </a:rPr>
                        <a:t>Фигура</a:t>
                      </a:r>
                    </a:p>
                  </a:txBody>
                  <a:tcPr marL="76200" marR="76200" marT="47625" marB="47625" anchor="ctr">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c>
                  <a:txBody>
                    <a:bodyPr/>
                    <a:lstStyle/>
                    <a:p>
                      <a:r>
                        <a:rPr sz="1800">
                          <a:solidFill>
                            <a:srgbClr val="718087"/>
                          </a:solidFill>
                          <a:latin typeface="Arial"/>
                          <a:ea typeface="Arial"/>
                          <a:cs typeface="Arial"/>
                        </a:rPr>
                        <a:t>Упоминания</a:t>
                      </a:r>
                    </a:p>
                    <a:p>
                      <a:r>
                        <a:rPr sz="1800">
                          <a:solidFill>
                            <a:srgbClr val="718087"/>
                          </a:solidFill>
                          <a:latin typeface="Arial"/>
                          <a:ea typeface="Arial"/>
                          <a:cs typeface="Arial"/>
                        </a:rPr>
                        <a:t>среднее [80%]</a:t>
                      </a:r>
                    </a:p>
                  </a:txBody>
                  <a:tcPr marL="76200" marR="76200" marT="47625" marB="47625" anchor="ctr">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c>
                  <a:txBody>
                    <a:bodyPr/>
                    <a:lstStyle/>
                    <a:p>
                      <a:r>
                        <a:rPr sz="1800">
                          <a:solidFill>
                            <a:srgbClr val="718087"/>
                          </a:solidFill>
                          <a:latin typeface="Arial"/>
                          <a:ea typeface="Arial"/>
                          <a:cs typeface="Arial"/>
                        </a:rPr>
                        <a:t>Записи с упоминанием</a:t>
                      </a:r>
                    </a:p>
                    <a:p>
                      <a:r>
                        <a:rPr sz="1800">
                          <a:solidFill>
                            <a:srgbClr val="718087"/>
                          </a:solidFill>
                          <a:latin typeface="Arial"/>
                          <a:ea typeface="Arial"/>
                          <a:cs typeface="Arial"/>
                        </a:rPr>
                        <a:t>среднее [80%]</a:t>
                      </a:r>
                    </a:p>
                  </a:txBody>
                  <a:tcPr marL="76200" marR="76200" marT="47625" marB="47625" anchor="ctr">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r>
              <a:tr h="400050">
                <a:tc rowSpan="2">
                  <a:txBody>
                    <a:bodyPr/>
                    <a:lstStyle/>
                    <a:p>
                      <a:r>
                        <a:rPr sz="1875">
                          <a:solidFill>
                            <a:srgbClr val="243C45"/>
                          </a:solidFill>
                          <a:latin typeface="Arial"/>
                          <a:ea typeface="Arial"/>
                          <a:cs typeface="Arial"/>
                        </a:rPr>
                        <a:t>Первый канал</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B46A48"/>
                          </a:solidFill>
                          <a:latin typeface="Arial"/>
                          <a:ea typeface="Arial"/>
                          <a:cs typeface="Arial"/>
                        </a:rPr>
                        <a:t>Ленин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25 [11–43]</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13 [7–19]</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vMerge="1">
                  <a:txBody>
                    <a:bodyPr/>
                    <a:lstStyle/>
                    <a:p>
                      <a:r>
                        <a:rPr sz="1875">
                          <a:solidFill>
                            <a:srgbClr val="243C45"/>
                          </a:solidFill>
                          <a:latin typeface="Arial"/>
                          <a:ea typeface="Arial"/>
                          <a:cs typeface="Arial"/>
                        </a:rPr>
                        <a:t>Первый канал</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277978"/>
                          </a:solidFill>
                          <a:latin typeface="Arial"/>
                          <a:ea typeface="Arial"/>
                          <a:cs typeface="Arial"/>
                        </a:rPr>
                        <a:t>Сталин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47 [21–77]</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17 [10–24]</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rowSpan="2">
                  <a:txBody>
                    <a:bodyPr/>
                    <a:lstStyle/>
                    <a:p>
                      <a:r>
                        <a:rPr sz="1875">
                          <a:solidFill>
                            <a:srgbClr val="243C45"/>
                          </a:solidFill>
                          <a:latin typeface="Arial"/>
                          <a:ea typeface="Arial"/>
                          <a:cs typeface="Arial"/>
                        </a:rPr>
                        <a:t>НТВ</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B46A48"/>
                          </a:solidFill>
                          <a:latin typeface="Arial"/>
                          <a:ea typeface="Arial"/>
                          <a:cs typeface="Arial"/>
                        </a:rPr>
                        <a:t>Ленин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24 [8–45]</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10 [5–14]</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vMerge="1">
                  <a:txBody>
                    <a:bodyPr/>
                    <a:lstStyle/>
                    <a:p>
                      <a:r>
                        <a:rPr sz="1875">
                          <a:solidFill>
                            <a:srgbClr val="243C45"/>
                          </a:solidFill>
                          <a:latin typeface="Arial"/>
                          <a:ea typeface="Arial"/>
                          <a:cs typeface="Arial"/>
                        </a:rPr>
                        <a:t>НТВ</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277978"/>
                          </a:solidFill>
                          <a:latin typeface="Arial"/>
                          <a:ea typeface="Arial"/>
                          <a:cs typeface="Arial"/>
                        </a:rPr>
                        <a:t>Сталин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31 [8–61]</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8 [4–13]</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rowSpan="2">
                  <a:txBody>
                    <a:bodyPr/>
                    <a:lstStyle/>
                    <a:p>
                      <a:r>
                        <a:rPr sz="1875">
                          <a:solidFill>
                            <a:srgbClr val="243C45"/>
                          </a:solidFill>
                          <a:latin typeface="Arial"/>
                          <a:ea typeface="Arial"/>
                          <a:cs typeface="Arial"/>
                        </a:rPr>
                        <a:t>Россия 1</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B46A48"/>
                          </a:solidFill>
                          <a:latin typeface="Arial"/>
                          <a:ea typeface="Arial"/>
                          <a:cs typeface="Arial"/>
                        </a:rPr>
                        <a:t>Ленин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26 [12–43]</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14 [8–20]</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vMerge="1">
                  <a:txBody>
                    <a:bodyPr/>
                    <a:lstStyle/>
                    <a:p>
                      <a:r>
                        <a:rPr sz="1875">
                          <a:solidFill>
                            <a:srgbClr val="243C45"/>
                          </a:solidFill>
                          <a:latin typeface="Arial"/>
                          <a:ea typeface="Arial"/>
                          <a:cs typeface="Arial"/>
                        </a:rPr>
                        <a:t>Россия 1</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277978"/>
                          </a:solidFill>
                          <a:latin typeface="Arial"/>
                          <a:ea typeface="Arial"/>
                          <a:cs typeface="Arial"/>
                        </a:rPr>
                        <a:t>Сталин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38 [20–58]</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18 [12–25]</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rowSpan="2">
                  <a:txBody>
                    <a:bodyPr/>
                    <a:lstStyle/>
                    <a:p>
                      <a:r>
                        <a:rPr sz="1875">
                          <a:solidFill>
                            <a:srgbClr val="243C45"/>
                          </a:solidFill>
                          <a:latin typeface="Arial"/>
                          <a:ea typeface="Arial"/>
                          <a:cs typeface="Arial"/>
                        </a:rPr>
                        <a:t>Россия 24</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B46A48"/>
                          </a:solidFill>
                          <a:latin typeface="Arial"/>
                          <a:ea typeface="Arial"/>
                          <a:cs typeface="Arial"/>
                        </a:rPr>
                        <a:t>Ленин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38 [21–58]</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24 [15–34]</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00050">
                <a:tc vMerge="1">
                  <a:txBody>
                    <a:bodyPr/>
                    <a:lstStyle/>
                    <a:p>
                      <a:r>
                        <a:rPr sz="1875">
                          <a:solidFill>
                            <a:srgbClr val="243C45"/>
                          </a:solidFill>
                          <a:latin typeface="Arial"/>
                          <a:ea typeface="Arial"/>
                          <a:cs typeface="Arial"/>
                        </a:rPr>
                        <a:t>Россия 24</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75">
                          <a:solidFill>
                            <a:srgbClr val="277978"/>
                          </a:solidFill>
                          <a:latin typeface="Arial"/>
                          <a:ea typeface="Arial"/>
                          <a:cs typeface="Arial"/>
                        </a:rPr>
                        <a:t>Сталин</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67 [40–97]</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75">
                          <a:solidFill>
                            <a:srgbClr val="243C45"/>
                          </a:solidFill>
                          <a:latin typeface="Arial"/>
                          <a:ea typeface="Arial"/>
                          <a:cs typeface="Arial"/>
                        </a:rPr>
                        <a:t>36 [24–49]</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bl>
          </a:graphicData>
        </a:graphic>
      </p:graphicFrame>
      <p:sp>
        <p:nvSpPr>
          <p:cNvPr id="5" name="forecast-note">
            <a:extLst xmlns:a="http://schemas.openxmlformats.org/drawingml/2006/main">
              <a:ext uri="{FF2B5EF4-FFF2-40B4-BE49-F238E27FC236}">
                <a16:creationId xmlns:a16="http://schemas.microsoft.com/office/drawing/2014/main" id="{1B424663-EF10-4D12-B87E-9D5F664E9C41}"/>
              </a:ext>
            </a:extLst>
          </p:cNvPr>
          <p:cNvSpPr>
            <a:spLocks xmlns:a="http://schemas.openxmlformats.org/drawingml/2006/main" noGrp="1"/>
          </p:cNvSpPr>
          <p:nvPr/>
        </p:nvSpPr>
        <p:spPr>
          <a:xfrm xmlns:a="http://schemas.openxmlformats.org/drawingml/2006/main">
            <a:off x="704850" y="581025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Суммы целых траекторий. Фактическое покрытие интервалов проверяем отдельно.</a:t>
            </a:r>
          </a:p>
        </p:txBody>
      </p:sp>
    </p:spTree>
    <p:extLst>
      <p:ext uri="{BB962C8B-B14F-4D97-AF65-F5344CB8AC3E}">
        <p14:creationId xmlns:p14="http://schemas.microsoft.com/office/powerpoint/2010/main" val="313466277"/>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D6E72754-C5C3-49DF-8FC9-2B281A176D2F}"/>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Модели сохраняют зависимость счётчиков</a:t>
            </a:r>
          </a:p>
        </p:txBody>
      </p:sp>
      <p:sp>
        <p:nvSpPr>
          <p:cNvPr id="2" name="page-number">
            <a:extLst xmlns:a="http://schemas.openxmlformats.org/drawingml/2006/main">
              <a:ext uri="{FF2B5EF4-FFF2-40B4-BE49-F238E27FC236}">
                <a16:creationId xmlns:a16="http://schemas.microsoft.com/office/drawing/2014/main" id="{CFE54D62-9924-4602-9305-4107F38FE399}"/>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hierarchy-formula">
            <a:extLst xmlns:a="http://schemas.openxmlformats.org/drawingml/2006/main">
              <a:ext uri="{FF2B5EF4-FFF2-40B4-BE49-F238E27FC236}">
                <a16:creationId xmlns:a16="http://schemas.microsoft.com/office/drawing/2014/main" id="{8D4F6BD8-EDBD-4D3E-98A5-BD37B4CFD045}"/>
              </a:ext>
            </a:extLst>
          </p:cNvPr>
          <p:cNvSpPr>
            <a:spLocks xmlns:a="http://schemas.openxmlformats.org/drawingml/2006/main" noGrp="1"/>
          </p:cNvSpPr>
          <p:nvPr/>
        </p:nvSpPr>
        <p:spPr>
          <a:xfrm xmlns:a="http://schemas.openxmlformats.org/drawingml/2006/main">
            <a:off x="685800" y="1323975"/>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00" b="0">
                <a:solidFill>
                  <a:srgbClr val="277978"/>
                </a:solidFill>
                <a:latin typeface="Arial"/>
                <a:ea typeface="Arial"/>
                <a:cs typeface="Arial"/>
              </a:defRPr>
            </a:defPPr>
            <a:lvl1pPr>
              <a:defRPr sz="2700" b="0">
                <a:solidFill>
                  <a:srgbClr val="277978"/>
                </a:solidFill>
                <a:latin typeface="Arial"/>
                <a:ea typeface="Arial"/>
                <a:cs typeface="Arial"/>
              </a:defRPr>
            </a:lvl1pPr>
            <a:lvl2pPr>
              <a:defRPr sz="2700" b="0">
                <a:solidFill>
                  <a:srgbClr val="277978"/>
                </a:solidFill>
                <a:latin typeface="Arial"/>
                <a:ea typeface="Arial"/>
                <a:cs typeface="Arial"/>
              </a:defRPr>
            </a:lvl2pPr>
            <a:lvl3pPr>
              <a:defRPr sz="2700" b="0">
                <a:solidFill>
                  <a:srgbClr val="277978"/>
                </a:solidFill>
                <a:latin typeface="Arial"/>
                <a:ea typeface="Arial"/>
                <a:cs typeface="Arial"/>
              </a:defRPr>
            </a:lvl3pPr>
            <a:lvl4pPr>
              <a:defRPr sz="2700" b="0">
                <a:solidFill>
                  <a:srgbClr val="277978"/>
                </a:solidFill>
                <a:latin typeface="Arial"/>
                <a:ea typeface="Arial"/>
                <a:cs typeface="Arial"/>
              </a:defRPr>
            </a:lvl4pPr>
            <a:lvl5pPr>
              <a:defRPr sz="2700" b="0">
                <a:solidFill>
                  <a:srgbClr val="277978"/>
                </a:solidFill>
                <a:latin typeface="Arial"/>
                <a:ea typeface="Arial"/>
                <a:cs typeface="Arial"/>
              </a:defRPr>
            </a:lvl5pPr>
            <a:lvl6pPr>
              <a:defRPr sz="2700" b="0">
                <a:solidFill>
                  <a:srgbClr val="277978"/>
                </a:solidFill>
                <a:latin typeface="Arial"/>
                <a:ea typeface="Arial"/>
                <a:cs typeface="Arial"/>
              </a:defRPr>
            </a:lvl6pPr>
            <a:lvl7pPr>
              <a:defRPr sz="2700" b="0">
                <a:solidFill>
                  <a:srgbClr val="277978"/>
                </a:solidFill>
                <a:latin typeface="Arial"/>
                <a:ea typeface="Arial"/>
                <a:cs typeface="Arial"/>
              </a:defRPr>
            </a:lvl7pPr>
            <a:lvl8pPr>
              <a:defRPr sz="2700" b="0">
                <a:solidFill>
                  <a:srgbClr val="277978"/>
                </a:solidFill>
                <a:latin typeface="Arial"/>
                <a:ea typeface="Arial"/>
                <a:cs typeface="Arial"/>
              </a:defRPr>
            </a:lvl8pPr>
            <a:lvl9pPr>
              <a:defRPr sz="2700" b="0">
                <a:solidFill>
                  <a:srgbClr val="277978"/>
                </a:solidFill>
                <a:latin typeface="Arial"/>
                <a:ea typeface="Arial"/>
                <a:cs typeface="Arial"/>
              </a:defRPr>
            </a:lvl9pPr>
          </a:lstStyle>
          <a:p xmlns:a="http://schemas.openxmlformats.org/drawingml/2006/main">
            <a:pPr>
              <a:defRPr sz="2700" b="0">
                <a:solidFill>
                  <a:srgbClr val="277978"/>
                </a:solidFill>
                <a:latin typeface="Arial"/>
                <a:ea typeface="Arial"/>
                <a:cs typeface="Arial"/>
              </a:defRPr>
            </a:pPr>
            <a:r>
              <a:rPr sz="2700" b="0">
                <a:solidFill>
                  <a:srgbClr val="277978"/>
                </a:solidFill>
                <a:latin typeface="Arial"/>
                <a:ea typeface="Arial"/>
                <a:cs typeface="Arial"/>
              </a:rPr>
              <a:t>p(N) × p(B | N) × p(C | B),   C = B + E</a:t>
            </a:r>
          </a:p>
        </p:txBody>
      </p:sp>
      <p:sp>
        <p:nvSpPr>
          <p:cNvPr id="4" name="hierarchy-meaning">
            <a:extLst xmlns:a="http://schemas.openxmlformats.org/drawingml/2006/main">
              <a:ext uri="{FF2B5EF4-FFF2-40B4-BE49-F238E27FC236}">
                <a16:creationId xmlns:a16="http://schemas.microsoft.com/office/drawing/2014/main" id="{B190E349-6239-492A-86F2-B139DADDBA70}"/>
              </a:ext>
            </a:extLst>
          </p:cNvPr>
          <p:cNvSpPr>
            <a:spLocks xmlns:a="http://schemas.openxmlformats.org/drawingml/2006/main" noGrp="1"/>
          </p:cNvSpPr>
          <p:nvPr/>
        </p:nvSpPr>
        <p:spPr>
          <a:xfrm xmlns:a="http://schemas.openxmlformats.org/drawingml/2006/main">
            <a:off x="704850" y="20097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N — все записи, B — записи с упоминанием, C — упоминания</a:t>
            </a:r>
          </a:p>
        </p:txBody>
      </p:sp>
      <p:sp>
        <p:nvSpPr>
          <p:cNvPr id="5" name="model-id-0">
            <a:extLst xmlns:a="http://schemas.openxmlformats.org/drawingml/2006/main">
              <a:ext uri="{FF2B5EF4-FFF2-40B4-BE49-F238E27FC236}">
                <a16:creationId xmlns:a16="http://schemas.microsoft.com/office/drawing/2014/main" id="{E0DCDD35-5C7A-47CC-80FB-E1BB58E516E6}"/>
              </a:ext>
            </a:extLst>
          </p:cNvPr>
          <p:cNvSpPr>
            <a:spLocks xmlns:a="http://schemas.openxmlformats.org/drawingml/2006/main" noGrp="1"/>
          </p:cNvSpPr>
          <p:nvPr/>
        </p:nvSpPr>
        <p:spPr>
          <a:xfrm xmlns:a="http://schemas.openxmlformats.org/drawingml/2006/main">
            <a:off x="723900" y="271462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43C45"/>
                </a:solidFill>
                <a:latin typeface="Arial"/>
                <a:ea typeface="Arial"/>
                <a:cs typeface="Arial"/>
              </a:defRPr>
            </a:defPPr>
            <a:lvl1pPr>
              <a:defRPr sz="2175" b="1">
                <a:solidFill>
                  <a:srgbClr val="243C45"/>
                </a:solidFill>
                <a:latin typeface="Arial"/>
                <a:ea typeface="Arial"/>
                <a:cs typeface="Arial"/>
              </a:defRPr>
            </a:lvl1pPr>
            <a:lvl2pPr>
              <a:defRPr sz="2175" b="1">
                <a:solidFill>
                  <a:srgbClr val="243C45"/>
                </a:solidFill>
                <a:latin typeface="Arial"/>
                <a:ea typeface="Arial"/>
                <a:cs typeface="Arial"/>
              </a:defRPr>
            </a:lvl2pPr>
            <a:lvl3pPr>
              <a:defRPr sz="2175" b="1">
                <a:solidFill>
                  <a:srgbClr val="243C45"/>
                </a:solidFill>
                <a:latin typeface="Arial"/>
                <a:ea typeface="Arial"/>
                <a:cs typeface="Arial"/>
              </a:defRPr>
            </a:lvl3pPr>
            <a:lvl4pPr>
              <a:defRPr sz="2175" b="1">
                <a:solidFill>
                  <a:srgbClr val="243C45"/>
                </a:solidFill>
                <a:latin typeface="Arial"/>
                <a:ea typeface="Arial"/>
                <a:cs typeface="Arial"/>
              </a:defRPr>
            </a:lvl4pPr>
            <a:lvl5pPr>
              <a:defRPr sz="2175" b="1">
                <a:solidFill>
                  <a:srgbClr val="243C45"/>
                </a:solidFill>
                <a:latin typeface="Arial"/>
                <a:ea typeface="Arial"/>
                <a:cs typeface="Arial"/>
              </a:defRPr>
            </a:lvl5pPr>
            <a:lvl6pPr>
              <a:defRPr sz="2175" b="1">
                <a:solidFill>
                  <a:srgbClr val="243C45"/>
                </a:solidFill>
                <a:latin typeface="Arial"/>
                <a:ea typeface="Arial"/>
                <a:cs typeface="Arial"/>
              </a:defRPr>
            </a:lvl6pPr>
            <a:lvl7pPr>
              <a:defRPr sz="2175" b="1">
                <a:solidFill>
                  <a:srgbClr val="243C45"/>
                </a:solidFill>
                <a:latin typeface="Arial"/>
                <a:ea typeface="Arial"/>
                <a:cs typeface="Arial"/>
              </a:defRPr>
            </a:lvl7pPr>
            <a:lvl8pPr>
              <a:defRPr sz="2175" b="1">
                <a:solidFill>
                  <a:srgbClr val="243C45"/>
                </a:solidFill>
                <a:latin typeface="Arial"/>
                <a:ea typeface="Arial"/>
                <a:cs typeface="Arial"/>
              </a:defRPr>
            </a:lvl8pPr>
            <a:lvl9pPr>
              <a:defRPr sz="2175" b="1">
                <a:solidFill>
                  <a:srgbClr val="243C45"/>
                </a:solidFill>
                <a:latin typeface="Arial"/>
                <a:ea typeface="Arial"/>
                <a:cs typeface="Arial"/>
              </a:defRPr>
            </a:lvl9pPr>
          </a:lstStyle>
          <a:p xmlns:a="http://schemas.openxmlformats.org/drawingml/2006/main">
            <a:pPr>
              <a:defRPr sz="2175" b="1">
                <a:solidFill>
                  <a:srgbClr val="243C45"/>
                </a:solidFill>
                <a:latin typeface="Arial"/>
                <a:ea typeface="Arial"/>
                <a:cs typeface="Arial"/>
              </a:defRPr>
            </a:pPr>
            <a:r>
              <a:rPr sz="2175" b="1">
                <a:solidFill>
                  <a:srgbClr val="243C45"/>
                </a:solidFill>
                <a:latin typeface="Arial"/>
                <a:ea typeface="Arial"/>
                <a:cs typeface="Arial"/>
              </a:rPr>
              <a:t>M1</a:t>
            </a:r>
          </a:p>
        </p:txBody>
      </p:sp>
      <p:sp>
        <p:nvSpPr>
          <p:cNvPr id="6" name="model-description-0">
            <a:extLst xmlns:a="http://schemas.openxmlformats.org/drawingml/2006/main">
              <a:ext uri="{FF2B5EF4-FFF2-40B4-BE49-F238E27FC236}">
                <a16:creationId xmlns:a16="http://schemas.microsoft.com/office/drawing/2014/main" id="{71BC6D59-F76C-4783-9B01-D22BB2832C1A}"/>
              </a:ext>
            </a:extLst>
          </p:cNvPr>
          <p:cNvSpPr>
            <a:spLocks xmlns:a="http://schemas.openxmlformats.org/drawingml/2006/main" noGrp="1"/>
          </p:cNvSpPr>
          <p:nvPr/>
        </p:nvSpPr>
        <p:spPr>
          <a:xfrm xmlns:a="http://schemas.openxmlformats.org/drawingml/2006/main">
            <a:off x="1647825" y="271462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Постоянный уровень Poisson / Binomial, базовая модель</a:t>
            </a:r>
          </a:p>
        </p:txBody>
      </p:sp>
      <p:sp>
        <p:nvSpPr>
          <p:cNvPr id="7" name="model-id-1">
            <a:extLst xmlns:a="http://schemas.openxmlformats.org/drawingml/2006/main">
              <a:ext uri="{FF2B5EF4-FFF2-40B4-BE49-F238E27FC236}">
                <a16:creationId xmlns:a16="http://schemas.microsoft.com/office/drawing/2014/main" id="{232B0393-B1C8-4529-8738-A4357770C074}"/>
              </a:ext>
            </a:extLst>
          </p:cNvPr>
          <p:cNvSpPr>
            <a:spLocks xmlns:a="http://schemas.openxmlformats.org/drawingml/2006/main" noGrp="1"/>
          </p:cNvSpPr>
          <p:nvPr/>
        </p:nvSpPr>
        <p:spPr>
          <a:xfrm xmlns:a="http://schemas.openxmlformats.org/drawingml/2006/main">
            <a:off x="723900" y="331470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43C45"/>
                </a:solidFill>
                <a:latin typeface="Arial"/>
                <a:ea typeface="Arial"/>
                <a:cs typeface="Arial"/>
              </a:defRPr>
            </a:defPPr>
            <a:lvl1pPr>
              <a:defRPr sz="2175" b="1">
                <a:solidFill>
                  <a:srgbClr val="243C45"/>
                </a:solidFill>
                <a:latin typeface="Arial"/>
                <a:ea typeface="Arial"/>
                <a:cs typeface="Arial"/>
              </a:defRPr>
            </a:lvl1pPr>
            <a:lvl2pPr>
              <a:defRPr sz="2175" b="1">
                <a:solidFill>
                  <a:srgbClr val="243C45"/>
                </a:solidFill>
                <a:latin typeface="Arial"/>
                <a:ea typeface="Arial"/>
                <a:cs typeface="Arial"/>
              </a:defRPr>
            </a:lvl2pPr>
            <a:lvl3pPr>
              <a:defRPr sz="2175" b="1">
                <a:solidFill>
                  <a:srgbClr val="243C45"/>
                </a:solidFill>
                <a:latin typeface="Arial"/>
                <a:ea typeface="Arial"/>
                <a:cs typeface="Arial"/>
              </a:defRPr>
            </a:lvl3pPr>
            <a:lvl4pPr>
              <a:defRPr sz="2175" b="1">
                <a:solidFill>
                  <a:srgbClr val="243C45"/>
                </a:solidFill>
                <a:latin typeface="Arial"/>
                <a:ea typeface="Arial"/>
                <a:cs typeface="Arial"/>
              </a:defRPr>
            </a:lvl4pPr>
            <a:lvl5pPr>
              <a:defRPr sz="2175" b="1">
                <a:solidFill>
                  <a:srgbClr val="243C45"/>
                </a:solidFill>
                <a:latin typeface="Arial"/>
                <a:ea typeface="Arial"/>
                <a:cs typeface="Arial"/>
              </a:defRPr>
            </a:lvl5pPr>
            <a:lvl6pPr>
              <a:defRPr sz="2175" b="1">
                <a:solidFill>
                  <a:srgbClr val="243C45"/>
                </a:solidFill>
                <a:latin typeface="Arial"/>
                <a:ea typeface="Arial"/>
                <a:cs typeface="Arial"/>
              </a:defRPr>
            </a:lvl6pPr>
            <a:lvl7pPr>
              <a:defRPr sz="2175" b="1">
                <a:solidFill>
                  <a:srgbClr val="243C45"/>
                </a:solidFill>
                <a:latin typeface="Arial"/>
                <a:ea typeface="Arial"/>
                <a:cs typeface="Arial"/>
              </a:defRPr>
            </a:lvl7pPr>
            <a:lvl8pPr>
              <a:defRPr sz="2175" b="1">
                <a:solidFill>
                  <a:srgbClr val="243C45"/>
                </a:solidFill>
                <a:latin typeface="Arial"/>
                <a:ea typeface="Arial"/>
                <a:cs typeface="Arial"/>
              </a:defRPr>
            </a:lvl8pPr>
            <a:lvl9pPr>
              <a:defRPr sz="2175" b="1">
                <a:solidFill>
                  <a:srgbClr val="243C45"/>
                </a:solidFill>
                <a:latin typeface="Arial"/>
                <a:ea typeface="Arial"/>
                <a:cs typeface="Arial"/>
              </a:defRPr>
            </a:lvl9pPr>
          </a:lstStyle>
          <a:p xmlns:a="http://schemas.openxmlformats.org/drawingml/2006/main">
            <a:pPr>
              <a:defRPr sz="2175" b="1">
                <a:solidFill>
                  <a:srgbClr val="243C45"/>
                </a:solidFill>
                <a:latin typeface="Arial"/>
                <a:ea typeface="Arial"/>
                <a:cs typeface="Arial"/>
              </a:defRPr>
            </a:pPr>
            <a:r>
              <a:rPr sz="2175" b="1">
                <a:solidFill>
                  <a:srgbClr val="243C45"/>
                </a:solidFill>
                <a:latin typeface="Arial"/>
                <a:ea typeface="Arial"/>
                <a:cs typeface="Arial"/>
              </a:rPr>
              <a:t>M2</a:t>
            </a:r>
          </a:p>
        </p:txBody>
      </p:sp>
      <p:sp>
        <p:nvSpPr>
          <p:cNvPr id="8" name="model-description-1">
            <a:extLst xmlns:a="http://schemas.openxmlformats.org/drawingml/2006/main">
              <a:ext uri="{FF2B5EF4-FFF2-40B4-BE49-F238E27FC236}">
                <a16:creationId xmlns:a16="http://schemas.microsoft.com/office/drawing/2014/main" id="{E44C8FC5-9129-41DF-A196-3E7BFB6C5DD4}"/>
              </a:ext>
            </a:extLst>
          </p:cNvPr>
          <p:cNvSpPr>
            <a:spLocks xmlns:a="http://schemas.openxmlformats.org/drawingml/2006/main" noGrp="1"/>
          </p:cNvSpPr>
          <p:nvPr/>
        </p:nvSpPr>
        <p:spPr>
          <a:xfrm xmlns:a="http://schemas.openxmlformats.org/drawingml/2006/main">
            <a:off x="1647825" y="33147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Negative binomial / Beta-binomial, дополнительная вариация</a:t>
            </a:r>
          </a:p>
        </p:txBody>
      </p:sp>
      <p:sp>
        <p:nvSpPr>
          <p:cNvPr id="9" name="model-id-2">
            <a:extLst xmlns:a="http://schemas.openxmlformats.org/drawingml/2006/main">
              <a:ext uri="{FF2B5EF4-FFF2-40B4-BE49-F238E27FC236}">
                <a16:creationId xmlns:a16="http://schemas.microsoft.com/office/drawing/2014/main" id="{709084CA-9F65-45F6-928C-B199F4B7C5B5}"/>
              </a:ext>
            </a:extLst>
          </p:cNvPr>
          <p:cNvSpPr>
            <a:spLocks xmlns:a="http://schemas.openxmlformats.org/drawingml/2006/main" noGrp="1"/>
          </p:cNvSpPr>
          <p:nvPr/>
        </p:nvSpPr>
        <p:spPr>
          <a:xfrm xmlns:a="http://schemas.openxmlformats.org/drawingml/2006/main">
            <a:off x="723900" y="391477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7978"/>
                </a:solidFill>
                <a:latin typeface="Arial"/>
                <a:ea typeface="Arial"/>
                <a:cs typeface="Arial"/>
              </a:defRPr>
            </a:defPPr>
            <a:lvl1pPr>
              <a:defRPr sz="2175" b="1">
                <a:solidFill>
                  <a:srgbClr val="277978"/>
                </a:solidFill>
                <a:latin typeface="Arial"/>
                <a:ea typeface="Arial"/>
                <a:cs typeface="Arial"/>
              </a:defRPr>
            </a:lvl1pPr>
            <a:lvl2pPr>
              <a:defRPr sz="2175" b="1">
                <a:solidFill>
                  <a:srgbClr val="277978"/>
                </a:solidFill>
                <a:latin typeface="Arial"/>
                <a:ea typeface="Arial"/>
                <a:cs typeface="Arial"/>
              </a:defRPr>
            </a:lvl2pPr>
            <a:lvl3pPr>
              <a:defRPr sz="2175" b="1">
                <a:solidFill>
                  <a:srgbClr val="277978"/>
                </a:solidFill>
                <a:latin typeface="Arial"/>
                <a:ea typeface="Arial"/>
                <a:cs typeface="Arial"/>
              </a:defRPr>
            </a:lvl3pPr>
            <a:lvl4pPr>
              <a:defRPr sz="2175" b="1">
                <a:solidFill>
                  <a:srgbClr val="277978"/>
                </a:solidFill>
                <a:latin typeface="Arial"/>
                <a:ea typeface="Arial"/>
                <a:cs typeface="Arial"/>
              </a:defRPr>
            </a:lvl4pPr>
            <a:lvl5pPr>
              <a:defRPr sz="2175" b="1">
                <a:solidFill>
                  <a:srgbClr val="277978"/>
                </a:solidFill>
                <a:latin typeface="Arial"/>
                <a:ea typeface="Arial"/>
                <a:cs typeface="Arial"/>
              </a:defRPr>
            </a:lvl5pPr>
            <a:lvl6pPr>
              <a:defRPr sz="2175" b="1">
                <a:solidFill>
                  <a:srgbClr val="277978"/>
                </a:solidFill>
                <a:latin typeface="Arial"/>
                <a:ea typeface="Arial"/>
                <a:cs typeface="Arial"/>
              </a:defRPr>
            </a:lvl6pPr>
            <a:lvl7pPr>
              <a:defRPr sz="2175" b="1">
                <a:solidFill>
                  <a:srgbClr val="277978"/>
                </a:solidFill>
                <a:latin typeface="Arial"/>
                <a:ea typeface="Arial"/>
                <a:cs typeface="Arial"/>
              </a:defRPr>
            </a:lvl7pPr>
            <a:lvl8pPr>
              <a:defRPr sz="2175" b="1">
                <a:solidFill>
                  <a:srgbClr val="277978"/>
                </a:solidFill>
                <a:latin typeface="Arial"/>
                <a:ea typeface="Arial"/>
                <a:cs typeface="Arial"/>
              </a:defRPr>
            </a:lvl8pPr>
            <a:lvl9pPr>
              <a:defRPr sz="2175" b="1">
                <a:solidFill>
                  <a:srgbClr val="277978"/>
                </a:solidFill>
                <a:latin typeface="Arial"/>
                <a:ea typeface="Arial"/>
                <a:cs typeface="Arial"/>
              </a:defRPr>
            </a:lvl9pPr>
          </a:lstStyle>
          <a:p xmlns:a="http://schemas.openxmlformats.org/drawingml/2006/main">
            <a:pPr>
              <a:defRPr sz="2175" b="1">
                <a:solidFill>
                  <a:srgbClr val="277978"/>
                </a:solidFill>
                <a:latin typeface="Arial"/>
                <a:ea typeface="Arial"/>
                <a:cs typeface="Arial"/>
              </a:defRPr>
            </a:pPr>
            <a:r>
              <a:rPr sz="2175" b="1">
                <a:solidFill>
                  <a:srgbClr val="277978"/>
                </a:solidFill>
                <a:latin typeface="Arial"/>
                <a:ea typeface="Arial"/>
                <a:cs typeface="Arial"/>
              </a:rPr>
              <a:t>M3</a:t>
            </a:r>
          </a:p>
        </p:txBody>
      </p:sp>
      <p:sp>
        <p:nvSpPr>
          <p:cNvPr id="10" name="model-description-2">
            <a:extLst xmlns:a="http://schemas.openxmlformats.org/drawingml/2006/main">
              <a:ext uri="{FF2B5EF4-FFF2-40B4-BE49-F238E27FC236}">
                <a16:creationId xmlns:a16="http://schemas.microsoft.com/office/drawing/2014/main" id="{F614003E-4963-4E35-99B3-05DC944A92D0}"/>
              </a:ext>
            </a:extLst>
          </p:cNvPr>
          <p:cNvSpPr>
            <a:spLocks xmlns:a="http://schemas.openxmlformats.org/drawingml/2006/main" noGrp="1"/>
          </p:cNvSpPr>
          <p:nvPr/>
        </p:nvSpPr>
        <p:spPr>
          <a:xfrm xmlns:a="http://schemas.openxmlformats.org/drawingml/2006/main">
            <a:off x="1647825" y="391477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M2 с трендом, календарём и сжатием эффектов</a:t>
            </a:r>
          </a:p>
        </p:txBody>
      </p:sp>
      <p:sp>
        <p:nvSpPr>
          <p:cNvPr id="11" name="model-id-3">
            <a:extLst xmlns:a="http://schemas.openxmlformats.org/drawingml/2006/main">
              <a:ext uri="{FF2B5EF4-FFF2-40B4-BE49-F238E27FC236}">
                <a16:creationId xmlns:a16="http://schemas.microsoft.com/office/drawing/2014/main" id="{F4341B4F-A06F-4062-8B8A-338776132375}"/>
              </a:ext>
            </a:extLst>
          </p:cNvPr>
          <p:cNvSpPr>
            <a:spLocks xmlns:a="http://schemas.openxmlformats.org/drawingml/2006/main" noGrp="1"/>
          </p:cNvSpPr>
          <p:nvPr/>
        </p:nvSpPr>
        <p:spPr>
          <a:xfrm xmlns:a="http://schemas.openxmlformats.org/drawingml/2006/main">
            <a:off x="723900" y="45148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43C45"/>
                </a:solidFill>
                <a:latin typeface="Arial"/>
                <a:ea typeface="Arial"/>
                <a:cs typeface="Arial"/>
              </a:defRPr>
            </a:defPPr>
            <a:lvl1pPr>
              <a:defRPr sz="2175" b="1">
                <a:solidFill>
                  <a:srgbClr val="243C45"/>
                </a:solidFill>
                <a:latin typeface="Arial"/>
                <a:ea typeface="Arial"/>
                <a:cs typeface="Arial"/>
              </a:defRPr>
            </a:lvl1pPr>
            <a:lvl2pPr>
              <a:defRPr sz="2175" b="1">
                <a:solidFill>
                  <a:srgbClr val="243C45"/>
                </a:solidFill>
                <a:latin typeface="Arial"/>
                <a:ea typeface="Arial"/>
                <a:cs typeface="Arial"/>
              </a:defRPr>
            </a:lvl2pPr>
            <a:lvl3pPr>
              <a:defRPr sz="2175" b="1">
                <a:solidFill>
                  <a:srgbClr val="243C45"/>
                </a:solidFill>
                <a:latin typeface="Arial"/>
                <a:ea typeface="Arial"/>
                <a:cs typeface="Arial"/>
              </a:defRPr>
            </a:lvl3pPr>
            <a:lvl4pPr>
              <a:defRPr sz="2175" b="1">
                <a:solidFill>
                  <a:srgbClr val="243C45"/>
                </a:solidFill>
                <a:latin typeface="Arial"/>
                <a:ea typeface="Arial"/>
                <a:cs typeface="Arial"/>
              </a:defRPr>
            </a:lvl4pPr>
            <a:lvl5pPr>
              <a:defRPr sz="2175" b="1">
                <a:solidFill>
                  <a:srgbClr val="243C45"/>
                </a:solidFill>
                <a:latin typeface="Arial"/>
                <a:ea typeface="Arial"/>
                <a:cs typeface="Arial"/>
              </a:defRPr>
            </a:lvl5pPr>
            <a:lvl6pPr>
              <a:defRPr sz="2175" b="1">
                <a:solidFill>
                  <a:srgbClr val="243C45"/>
                </a:solidFill>
                <a:latin typeface="Arial"/>
                <a:ea typeface="Arial"/>
                <a:cs typeface="Arial"/>
              </a:defRPr>
            </a:lvl6pPr>
            <a:lvl7pPr>
              <a:defRPr sz="2175" b="1">
                <a:solidFill>
                  <a:srgbClr val="243C45"/>
                </a:solidFill>
                <a:latin typeface="Arial"/>
                <a:ea typeface="Arial"/>
                <a:cs typeface="Arial"/>
              </a:defRPr>
            </a:lvl7pPr>
            <a:lvl8pPr>
              <a:defRPr sz="2175" b="1">
                <a:solidFill>
                  <a:srgbClr val="243C45"/>
                </a:solidFill>
                <a:latin typeface="Arial"/>
                <a:ea typeface="Arial"/>
                <a:cs typeface="Arial"/>
              </a:defRPr>
            </a:lvl8pPr>
            <a:lvl9pPr>
              <a:defRPr sz="2175" b="1">
                <a:solidFill>
                  <a:srgbClr val="243C45"/>
                </a:solidFill>
                <a:latin typeface="Arial"/>
                <a:ea typeface="Arial"/>
                <a:cs typeface="Arial"/>
              </a:defRPr>
            </a:lvl9pPr>
          </a:lstStyle>
          <a:p xmlns:a="http://schemas.openxmlformats.org/drawingml/2006/main">
            <a:pPr>
              <a:defRPr sz="2175" b="1">
                <a:solidFill>
                  <a:srgbClr val="243C45"/>
                </a:solidFill>
                <a:latin typeface="Arial"/>
                <a:ea typeface="Arial"/>
                <a:cs typeface="Arial"/>
              </a:defRPr>
            </a:pPr>
            <a:r>
              <a:rPr sz="2175" b="1">
                <a:solidFill>
                  <a:srgbClr val="243C45"/>
                </a:solidFill>
                <a:latin typeface="Arial"/>
                <a:ea typeface="Arial"/>
                <a:cs typeface="Arial"/>
              </a:rPr>
              <a:t>M4</a:t>
            </a:r>
          </a:p>
        </p:txBody>
      </p:sp>
      <p:sp>
        <p:nvSpPr>
          <p:cNvPr id="12" name="model-description-3">
            <a:extLst xmlns:a="http://schemas.openxmlformats.org/drawingml/2006/main">
              <a:ext uri="{FF2B5EF4-FFF2-40B4-BE49-F238E27FC236}">
                <a16:creationId xmlns:a16="http://schemas.microsoft.com/office/drawing/2014/main" id="{C82FF815-450C-47DB-AFB3-EBF26098DD03}"/>
              </a:ext>
            </a:extLst>
          </p:cNvPr>
          <p:cNvSpPr>
            <a:spLocks xmlns:a="http://schemas.openxmlformats.org/drawingml/2006/main" noGrp="1"/>
          </p:cNvSpPr>
          <p:nvPr/>
        </p:nvSpPr>
        <p:spPr>
          <a:xfrm xmlns:a="http://schemas.openxmlformats.org/drawingml/2006/main">
            <a:off x="1647825" y="45148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M3 с меняющимся уровнем и фильтром частиц</a:t>
            </a:r>
          </a:p>
        </p:txBody>
      </p:sp>
      <p:sp>
        <p:nvSpPr>
          <p:cNvPr id="13" name="mixture">
            <a:extLst xmlns:a="http://schemas.openxmlformats.org/drawingml/2006/main">
              <a:ext uri="{FF2B5EF4-FFF2-40B4-BE49-F238E27FC236}">
                <a16:creationId xmlns:a16="http://schemas.microsoft.com/office/drawing/2014/main" id="{7F241A74-A55F-45F8-9115-58FCAD6E1138}"/>
              </a:ext>
            </a:extLst>
          </p:cNvPr>
          <p:cNvSpPr>
            <a:spLocks xmlns:a="http://schemas.openxmlformats.org/drawingml/2006/main" noGrp="1"/>
          </p:cNvSpPr>
          <p:nvPr/>
        </p:nvSpPr>
        <p:spPr>
          <a:xfrm xmlns:a="http://schemas.openxmlformats.org/drawingml/2006/main">
            <a:off x="723900" y="5314950"/>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243C45"/>
                </a:solidFill>
                <a:latin typeface="Arial"/>
                <a:ea typeface="Arial"/>
                <a:cs typeface="Arial"/>
              </a:defRPr>
            </a:defPPr>
            <a:lvl1pPr>
              <a:defRPr sz="1950" b="0">
                <a:solidFill>
                  <a:srgbClr val="243C45"/>
                </a:solidFill>
                <a:latin typeface="Arial"/>
                <a:ea typeface="Arial"/>
                <a:cs typeface="Arial"/>
              </a:defRPr>
            </a:lvl1pPr>
            <a:lvl2pPr>
              <a:defRPr sz="1950" b="0">
                <a:solidFill>
                  <a:srgbClr val="243C45"/>
                </a:solidFill>
                <a:latin typeface="Arial"/>
                <a:ea typeface="Arial"/>
                <a:cs typeface="Arial"/>
              </a:defRPr>
            </a:lvl2pPr>
            <a:lvl3pPr>
              <a:defRPr sz="1950" b="0">
                <a:solidFill>
                  <a:srgbClr val="243C45"/>
                </a:solidFill>
                <a:latin typeface="Arial"/>
                <a:ea typeface="Arial"/>
                <a:cs typeface="Arial"/>
              </a:defRPr>
            </a:lvl3pPr>
            <a:lvl4pPr>
              <a:defRPr sz="1950" b="0">
                <a:solidFill>
                  <a:srgbClr val="243C45"/>
                </a:solidFill>
                <a:latin typeface="Arial"/>
                <a:ea typeface="Arial"/>
                <a:cs typeface="Arial"/>
              </a:defRPr>
            </a:lvl4pPr>
            <a:lvl5pPr>
              <a:defRPr sz="1950" b="0">
                <a:solidFill>
                  <a:srgbClr val="243C45"/>
                </a:solidFill>
                <a:latin typeface="Arial"/>
                <a:ea typeface="Arial"/>
                <a:cs typeface="Arial"/>
              </a:defRPr>
            </a:lvl5pPr>
            <a:lvl6pPr>
              <a:defRPr sz="1950" b="0">
                <a:solidFill>
                  <a:srgbClr val="243C45"/>
                </a:solidFill>
                <a:latin typeface="Arial"/>
                <a:ea typeface="Arial"/>
                <a:cs typeface="Arial"/>
              </a:defRPr>
            </a:lvl6pPr>
            <a:lvl7pPr>
              <a:defRPr sz="1950" b="0">
                <a:solidFill>
                  <a:srgbClr val="243C45"/>
                </a:solidFill>
                <a:latin typeface="Arial"/>
                <a:ea typeface="Arial"/>
                <a:cs typeface="Arial"/>
              </a:defRPr>
            </a:lvl7pPr>
            <a:lvl8pPr>
              <a:defRPr sz="1950" b="0">
                <a:solidFill>
                  <a:srgbClr val="243C45"/>
                </a:solidFill>
                <a:latin typeface="Arial"/>
                <a:ea typeface="Arial"/>
                <a:cs typeface="Arial"/>
              </a:defRPr>
            </a:lvl8pPr>
            <a:lvl9pPr>
              <a:defRPr sz="1950" b="0">
                <a:solidFill>
                  <a:srgbClr val="243C45"/>
                </a:solidFill>
                <a:latin typeface="Arial"/>
                <a:ea typeface="Arial"/>
                <a:cs typeface="Arial"/>
              </a:defRPr>
            </a:lvl9pPr>
          </a:lstStyle>
          <a:p xmlns:a="http://schemas.openxmlformats.org/drawingml/2006/main">
            <a:pPr>
              <a:defRPr sz="1950" b="0">
                <a:solidFill>
                  <a:srgbClr val="243C45"/>
                </a:solidFill>
                <a:latin typeface="Arial"/>
                <a:ea typeface="Arial"/>
                <a:cs typeface="Arial"/>
              </a:defRPr>
            </a:pPr>
            <a:r>
              <a:rPr sz="1950" b="0">
                <a:solidFill>
                  <a:srgbClr val="243C45"/>
                </a:solidFill>
                <a:latin typeface="Arial"/>
                <a:ea typeface="Arial"/>
                <a:cs typeface="Arial"/>
              </a:rPr>
              <a:t>Сравниваем также равновесную смесь полных траекторий</a:t>
            </a:r>
          </a:p>
        </p:txBody>
      </p:sp>
      <p:sp>
        <p:nvSpPr>
          <p:cNvPr id="14" name="coherence">
            <a:extLst xmlns:a="http://schemas.openxmlformats.org/drawingml/2006/main">
              <a:ext uri="{FF2B5EF4-FFF2-40B4-BE49-F238E27FC236}">
                <a16:creationId xmlns:a16="http://schemas.microsoft.com/office/drawing/2014/main" id="{7905C57B-A4D7-4E34-B56E-7CED6F9C9645}"/>
              </a:ext>
            </a:extLst>
          </p:cNvPr>
          <p:cNvSpPr>
            <a:spLocks xmlns:a="http://schemas.openxmlformats.org/drawingml/2006/main" noGrp="1"/>
          </p:cNvSpPr>
          <p:nvPr/>
        </p:nvSpPr>
        <p:spPr>
          <a:xfrm xmlns:a="http://schemas.openxmlformats.org/drawingml/2006/main">
            <a:off x="723900" y="5915025"/>
            <a:ext cx="10725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В каждой симуляции: 0 ≤ B ≤ N, C ≥ B. При B = 0 получаем C = 0.</a:t>
            </a:r>
          </a:p>
        </p:txBody>
      </p:sp>
    </p:spTree>
    <p:extLst>
      <p:ext uri="{BB962C8B-B14F-4D97-AF65-F5344CB8AC3E}">
        <p14:creationId xmlns:p14="http://schemas.microsoft.com/office/powerpoint/2010/main" val="2057378072"/>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5F090C0-0C06-4AB2-93BA-2F4930720376}"/>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Календарь улучшает дневной прогноз</a:t>
            </a:r>
          </a:p>
        </p:txBody>
      </p:sp>
      <p:sp>
        <p:nvSpPr>
          <p:cNvPr id="2" name="page-number">
            <a:extLst xmlns:a="http://schemas.openxmlformats.org/drawingml/2006/main">
              <a:ext uri="{FF2B5EF4-FFF2-40B4-BE49-F238E27FC236}">
                <a16:creationId xmlns:a16="http://schemas.microsoft.com/office/drawing/2014/main" id="{86A187E4-ADED-4676-A702-364D1B7028A4}"/>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evaluation-dates">
            <a:extLst xmlns:a="http://schemas.openxmlformats.org/drawingml/2006/main">
              <a:ext uri="{FF2B5EF4-FFF2-40B4-BE49-F238E27FC236}">
                <a16:creationId xmlns:a16="http://schemas.microsoft.com/office/drawing/2014/main" id="{B2F838EC-43D7-4640-99D1-F60241CF50EE}"/>
              </a:ext>
            </a:extLst>
          </p:cNvPr>
          <p:cNvSpPr>
            <a:spLocks xmlns:a="http://schemas.openxmlformats.org/drawingml/2006/main" noGrp="1"/>
          </p:cNvSpPr>
          <p:nvPr/>
        </p:nvSpPr>
        <p:spPr>
          <a:xfrm xmlns:a="http://schemas.openxmlformats.org/drawingml/2006/main">
            <a:off x="685800" y="12096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Настройка: июль–декабрь 2024. Внешний тест: 21 месяц, 2025–2026</a:t>
            </a:r>
          </a:p>
        </p:txBody>
      </p:sp>
      <p:graphicFrame>
        <p:nvGraphicFramePr>
          <p:cNvPr id="4" name="Chart">
            <a:extLst xmlns:a="http://schemas.openxmlformats.org/drawingml/2006/main">
              <a:ext uri="{FF2B5EF4-FFF2-40B4-BE49-F238E27FC236}">
                <a16:creationId xmlns:a16="http://schemas.microsoft.com/office/drawing/2014/main" id="{89DC1169-670C-4688-86BB-4EED549F8CE8}"/>
              </a:ext>
            </a:extLst>
          </p:cNvPr>
          <p:cNvGraphicFramePr/>
          <p:nvPr/>
        </p:nvGraphicFramePr>
        <p:xfrm>
          <a:off xmlns:a="http://schemas.openxmlformats.org/drawingml/2006/main" x="619125" y="1962150"/>
          <a:ext xmlns:a="http://schemas.openxmlformats.org/drawingml/2006/main" cx="6477000" cy="3371850"/>
        </p:xfrm>
        <a:graphic xmlns:a="http://schemas.openxmlformats.org/drawingml/2006/main">
          <a:graphicData uri="http://schemas.openxmlformats.org/drawingml/2006/chart">
            <c:chart xmlns:r="http://schemas.openxmlformats.org/officeDocument/2006/relationships" xmlns:c="http://schemas.openxmlformats.org/drawingml/2006/chart" r:id="R088e5fa66dd94e6b"/>
          </a:graphicData>
        </a:graphic>
      </p:graphicFrame>
      <p:sp>
        <p:nvSpPr>
          <p:cNvPr id="5" name="skill-number">
            <a:extLst xmlns:a="http://schemas.openxmlformats.org/drawingml/2006/main">
              <a:ext uri="{FF2B5EF4-FFF2-40B4-BE49-F238E27FC236}">
                <a16:creationId xmlns:a16="http://schemas.microsoft.com/office/drawing/2014/main" id="{46BB59CA-4AEC-451C-9359-DB38BE4B9108}"/>
              </a:ext>
            </a:extLst>
          </p:cNvPr>
          <p:cNvSpPr>
            <a:spLocks xmlns:a="http://schemas.openxmlformats.org/drawingml/2006/main" noGrp="1"/>
          </p:cNvSpPr>
          <p:nvPr/>
        </p:nvSpPr>
        <p:spPr>
          <a:xfrm xmlns:a="http://schemas.openxmlformats.org/drawingml/2006/main">
            <a:off x="7829550" y="200025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4275" b="0">
                <a:solidFill>
                  <a:srgbClr val="277978"/>
                </a:solidFill>
                <a:latin typeface="Arial"/>
                <a:ea typeface="Arial"/>
                <a:cs typeface="Arial"/>
              </a:defRPr>
            </a:defPPr>
            <a:lvl1pPr>
              <a:defRPr sz="4275" b="0">
                <a:solidFill>
                  <a:srgbClr val="277978"/>
                </a:solidFill>
                <a:latin typeface="Arial"/>
                <a:ea typeface="Arial"/>
                <a:cs typeface="Arial"/>
              </a:defRPr>
            </a:lvl1pPr>
            <a:lvl2pPr>
              <a:defRPr sz="4275" b="0">
                <a:solidFill>
                  <a:srgbClr val="277978"/>
                </a:solidFill>
                <a:latin typeface="Arial"/>
                <a:ea typeface="Arial"/>
                <a:cs typeface="Arial"/>
              </a:defRPr>
            </a:lvl2pPr>
            <a:lvl3pPr>
              <a:defRPr sz="4275" b="0">
                <a:solidFill>
                  <a:srgbClr val="277978"/>
                </a:solidFill>
                <a:latin typeface="Arial"/>
                <a:ea typeface="Arial"/>
                <a:cs typeface="Arial"/>
              </a:defRPr>
            </a:lvl3pPr>
            <a:lvl4pPr>
              <a:defRPr sz="4275" b="0">
                <a:solidFill>
                  <a:srgbClr val="277978"/>
                </a:solidFill>
                <a:latin typeface="Arial"/>
                <a:ea typeface="Arial"/>
                <a:cs typeface="Arial"/>
              </a:defRPr>
            </a:lvl4pPr>
            <a:lvl5pPr>
              <a:defRPr sz="4275" b="0">
                <a:solidFill>
                  <a:srgbClr val="277978"/>
                </a:solidFill>
                <a:latin typeface="Arial"/>
                <a:ea typeface="Arial"/>
                <a:cs typeface="Arial"/>
              </a:defRPr>
            </a:lvl5pPr>
            <a:lvl6pPr>
              <a:defRPr sz="4275" b="0">
                <a:solidFill>
                  <a:srgbClr val="277978"/>
                </a:solidFill>
                <a:latin typeface="Arial"/>
                <a:ea typeface="Arial"/>
                <a:cs typeface="Arial"/>
              </a:defRPr>
            </a:lvl6pPr>
            <a:lvl7pPr>
              <a:defRPr sz="4275" b="0">
                <a:solidFill>
                  <a:srgbClr val="277978"/>
                </a:solidFill>
                <a:latin typeface="Arial"/>
                <a:ea typeface="Arial"/>
                <a:cs typeface="Arial"/>
              </a:defRPr>
            </a:lvl7pPr>
            <a:lvl8pPr>
              <a:defRPr sz="4275" b="0">
                <a:solidFill>
                  <a:srgbClr val="277978"/>
                </a:solidFill>
                <a:latin typeface="Arial"/>
                <a:ea typeface="Arial"/>
                <a:cs typeface="Arial"/>
              </a:defRPr>
            </a:lvl8pPr>
            <a:lvl9pPr>
              <a:defRPr sz="4275" b="0">
                <a:solidFill>
                  <a:srgbClr val="277978"/>
                </a:solidFill>
                <a:latin typeface="Arial"/>
                <a:ea typeface="Arial"/>
                <a:cs typeface="Arial"/>
              </a:defRPr>
            </a:lvl9pPr>
          </a:lstStyle>
          <a:p xmlns:a="http://schemas.openxmlformats.org/drawingml/2006/main">
            <a:pPr>
              <a:defRPr sz="4275" b="0">
                <a:solidFill>
                  <a:srgbClr val="277978"/>
                </a:solidFill>
                <a:latin typeface="Arial"/>
                <a:ea typeface="Arial"/>
                <a:cs typeface="Arial"/>
              </a:defRPr>
            </a:pPr>
            <a:r>
              <a:rPr sz="4275" b="0">
                <a:solidFill>
                  <a:srgbClr val="277978"/>
                </a:solidFill>
                <a:latin typeface="Arial"/>
                <a:ea typeface="Arial"/>
                <a:cs typeface="Arial"/>
              </a:rPr>
              <a:t>−10,2%</a:t>
            </a:r>
          </a:p>
        </p:txBody>
      </p:sp>
      <p:sp>
        <p:nvSpPr>
          <p:cNvPr id="6" name="skill-label">
            <a:extLst xmlns:a="http://schemas.openxmlformats.org/drawingml/2006/main">
              <a:ext uri="{FF2B5EF4-FFF2-40B4-BE49-F238E27FC236}">
                <a16:creationId xmlns:a16="http://schemas.microsoft.com/office/drawing/2014/main" id="{DD17B8C0-9CA2-44C7-8B67-96AB77C39AD2}"/>
              </a:ext>
            </a:extLst>
          </p:cNvPr>
          <p:cNvSpPr>
            <a:spLocks xmlns:a="http://schemas.openxmlformats.org/drawingml/2006/main" noGrp="1"/>
          </p:cNvSpPr>
          <p:nvPr/>
        </p:nvSpPr>
        <p:spPr>
          <a:xfrm xmlns:a="http://schemas.openxmlformats.org/drawingml/2006/main">
            <a:off x="7877175" y="276225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CRPS модели M3</a:t>
            </a:r>
          </a:p>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относительно M1</a:t>
            </a:r>
          </a:p>
        </p:txBody>
      </p:sp>
      <p:sp>
        <p:nvSpPr>
          <p:cNvPr id="7" name="monthly-header">
            <a:extLst xmlns:a="http://schemas.openxmlformats.org/drawingml/2006/main">
              <a:ext uri="{FF2B5EF4-FFF2-40B4-BE49-F238E27FC236}">
                <a16:creationId xmlns:a16="http://schemas.microsoft.com/office/drawing/2014/main" id="{DE7AF556-81CB-4701-BF9F-F2253FFE7A26}"/>
              </a:ext>
            </a:extLst>
          </p:cNvPr>
          <p:cNvSpPr>
            <a:spLocks xmlns:a="http://schemas.openxmlformats.org/drawingml/2006/main" noGrp="1"/>
          </p:cNvSpPr>
          <p:nvPr/>
        </p:nvSpPr>
        <p:spPr>
          <a:xfrm xmlns:a="http://schemas.openxmlformats.org/drawingml/2006/main">
            <a:off x="7839075" y="36576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Покрытие месячных итогов</a:t>
            </a:r>
          </a:p>
        </p:txBody>
      </p:sp>
      <p:graphicFrame>
        <p:nvGraphicFramePr>
          <p:cNvPr id="8" name="">
            <a:extLst xmlns:a="http://schemas.openxmlformats.org/drawingml/2006/main">
              <a:ext uri="{FF2B5EF4-FFF2-40B4-BE49-F238E27FC236}">
                <a16:creationId xmlns:a16="http://schemas.microsoft.com/office/drawing/2014/main" id="{8F672958-547E-4DCC-9991-781138CC9623}"/>
              </a:ext>
            </a:extLst>
          </p:cNvPr>
          <p:cNvGraphicFramePr/>
          <p:nvPr/>
        </p:nvGraphicFramePr>
        <p:xfrm>
          <a:off xmlns:a="http://schemas.openxmlformats.org/drawingml/2006/main" x="7829550" y="4114800"/>
          <a:ext xmlns:a="http://schemas.openxmlformats.org/drawingml/2006/main" cx="3657600" cy="1352550"/>
        </p:xfrm>
        <a:graphic xmlns:a="http://schemas.openxmlformats.org/drawingml/2006/main">
          <a:graphicData uri="http://schemas.openxmlformats.org/drawingml/2006/table">
            <a:tbl>
              <a:tblPr firstRow="0" firstCol="0" bandRow="0"/>
              <a:tblGrid>
                <a:gridCol w="1314450"/>
                <a:gridCol w="1171575"/>
                <a:gridCol w="1171575"/>
              </a:tblGrid>
              <a:tr h="438150">
                <a:tc>
                  <a:txBody>
                    <a:bodyPr/>
                    <a:lstStyle/>
                    <a:p>
                      <a:r>
                        <a:rPr sz="1725">
                          <a:solidFill>
                            <a:srgbClr val="718087"/>
                          </a:solidFill>
                          <a:latin typeface="Arial"/>
                          <a:ea typeface="Arial"/>
                          <a:cs typeface="Arial"/>
                        </a:rPr>
                        <a:t>Интервал</a:t>
                      </a:r>
                    </a:p>
                  </a:txBody>
                  <a:tcPr marL="76200" marR="76200" marT="47625" marB="47625" anchor="ctr">
                    <a:lnL w="5715">
                      <a:solidFill>
                        <a:srgbClr val="DFE4E1"/>
                      </a:solidFill>
                      <a:prstDash val="solid"/>
                    </a:lnL>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c>
                  <a:txBody>
                    <a:bodyPr/>
                    <a:lstStyle/>
                    <a:p>
                      <a:r>
                        <a:rPr sz="1725">
                          <a:solidFill>
                            <a:srgbClr val="718087"/>
                          </a:solidFill>
                          <a:latin typeface="Arial"/>
                          <a:ea typeface="Arial"/>
                          <a:cs typeface="Arial"/>
                        </a:rPr>
                        <a:t>80%</a:t>
                      </a:r>
                    </a:p>
                  </a:txBody>
                  <a:tcPr marL="76200" marR="76200" marT="47625" marB="47625" anchor="ctr">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c>
                  <a:txBody>
                    <a:bodyPr/>
                    <a:lstStyle/>
                    <a:p>
                      <a:r>
                        <a:rPr sz="1725">
                          <a:solidFill>
                            <a:srgbClr val="718087"/>
                          </a:solidFill>
                          <a:latin typeface="Arial"/>
                          <a:ea typeface="Arial"/>
                          <a:cs typeface="Arial"/>
                        </a:rPr>
                        <a:t>95%</a:t>
                      </a:r>
                    </a:p>
                  </a:txBody>
                  <a:tcPr marL="76200" marR="76200" marT="47625" marB="47625" anchor="ctr">
                    <a:lnR w="5715">
                      <a:solidFill>
                        <a:srgbClr val="DFE4E1"/>
                      </a:solidFill>
                      <a:prstDash val="solid"/>
                    </a:lnR>
                    <a:lnT w="5715">
                      <a:solidFill>
                        <a:srgbClr val="DFE4E1"/>
                      </a:solidFill>
                      <a:prstDash val="solid"/>
                    </a:lnT>
                    <a:lnB w="5715">
                      <a:solidFill>
                        <a:srgbClr val="DFE4E1"/>
                      </a:solidFill>
                      <a:prstDash val="solid"/>
                    </a:lnB>
                    <a:solidFill>
                      <a:srgbClr val="FCFBF8"/>
                    </a:solidFill>
                  </a:tcPr>
                </a:tc>
              </a:tr>
              <a:tr h="457200">
                <a:tc>
                  <a:txBody>
                    <a:bodyPr/>
                    <a:lstStyle/>
                    <a:p>
                      <a:r>
                        <a:rPr sz="1800">
                          <a:solidFill>
                            <a:srgbClr val="243C45"/>
                          </a:solidFill>
                          <a:latin typeface="Arial"/>
                          <a:ea typeface="Arial"/>
                          <a:cs typeface="Arial"/>
                        </a:rPr>
                        <a:t>M3</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00">
                          <a:solidFill>
                            <a:srgbClr val="243C45"/>
                          </a:solidFill>
                          <a:latin typeface="Arial"/>
                          <a:ea typeface="Arial"/>
                          <a:cs typeface="Arial"/>
                        </a:rPr>
                        <a:t>72,1%</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00">
                          <a:solidFill>
                            <a:srgbClr val="243C45"/>
                          </a:solidFill>
                          <a:latin typeface="Arial"/>
                          <a:ea typeface="Arial"/>
                          <a:cs typeface="Arial"/>
                        </a:rPr>
                        <a:t>90,0%</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r h="457200">
                <a:tc>
                  <a:txBody>
                    <a:bodyPr/>
                    <a:lstStyle/>
                    <a:p>
                      <a:r>
                        <a:rPr sz="1800">
                          <a:solidFill>
                            <a:srgbClr val="243C45"/>
                          </a:solidFill>
                          <a:latin typeface="Arial"/>
                          <a:ea typeface="Arial"/>
                          <a:cs typeface="Arial"/>
                        </a:rPr>
                        <a:t>M4</a:t>
                      </a:r>
                    </a:p>
                  </a:txBody>
                  <a:tcPr marL="76200" marR="76200" marT="47625" marB="47625" anchor="ctr">
                    <a:lnL w="5715">
                      <a:solidFill>
                        <a:srgbClr val="DFE4E1"/>
                      </a:solidFill>
                      <a:prstDash val="solid"/>
                    </a:lnL>
                    <a:lnR w="5715">
                      <a:solidFill>
                        <a:srgbClr val="DFE4E1"/>
                      </a:solidFill>
                      <a:prstDash val="solid"/>
                    </a:lnR>
                    <a:lnB w="5715">
                      <a:solidFill>
                        <a:srgbClr val="DFE4E1"/>
                      </a:solidFill>
                      <a:prstDash val="solid"/>
                    </a:lnB>
                    <a:solidFill>
                      <a:srgbClr val="FCFBF8"/>
                    </a:solidFill>
                  </a:tcPr>
                </a:tc>
                <a:tc>
                  <a:txBody>
                    <a:bodyPr/>
                    <a:lstStyle/>
                    <a:p>
                      <a:r>
                        <a:rPr sz="1800">
                          <a:solidFill>
                            <a:srgbClr val="243C45"/>
                          </a:solidFill>
                          <a:latin typeface="Arial"/>
                          <a:ea typeface="Arial"/>
                          <a:cs typeface="Arial"/>
                        </a:rPr>
                        <a:t>77,9%</a:t>
                      </a:r>
                    </a:p>
                  </a:txBody>
                  <a:tcPr marL="76200" marR="76200" marT="47625" marB="47625" anchor="ctr">
                    <a:lnR w="5715">
                      <a:solidFill>
                        <a:srgbClr val="DFE4E1"/>
                      </a:solidFill>
                      <a:prstDash val="solid"/>
                    </a:lnR>
                    <a:lnB w="5715">
                      <a:solidFill>
                        <a:srgbClr val="DFE4E1"/>
                      </a:solidFill>
                      <a:prstDash val="solid"/>
                    </a:lnB>
                    <a:solidFill>
                      <a:srgbClr val="FCFBF8"/>
                    </a:solidFill>
                  </a:tcPr>
                </a:tc>
                <a:tc>
                  <a:txBody>
                    <a:bodyPr/>
                    <a:lstStyle/>
                    <a:p>
                      <a:r>
                        <a:rPr sz="1800">
                          <a:solidFill>
                            <a:srgbClr val="243C45"/>
                          </a:solidFill>
                          <a:latin typeface="Arial"/>
                          <a:ea typeface="Arial"/>
                          <a:cs typeface="Arial"/>
                        </a:rPr>
                        <a:t>91,8%</a:t>
                      </a:r>
                    </a:p>
                  </a:txBody>
                  <a:tcPr marL="76200" marR="76200" marT="47625" marB="47625" anchor="ctr">
                    <a:lnR w="5715">
                      <a:solidFill>
                        <a:srgbClr val="DFE4E1"/>
                      </a:solidFill>
                      <a:prstDash val="solid"/>
                    </a:lnR>
                    <a:lnB w="5715">
                      <a:solidFill>
                        <a:srgbClr val="DFE4E1"/>
                      </a:solidFill>
                      <a:prstDash val="solid"/>
                    </a:lnB>
                    <a:solidFill>
                      <a:srgbClr val="FCFBF8"/>
                    </a:solidFill>
                  </a:tcPr>
                </a:tc>
              </a:tr>
            </a:tbl>
          </a:graphicData>
        </a:graphic>
      </p:graphicFrame>
      <p:sp>
        <p:nvSpPr>
          <p:cNvPr id="9" name="final-conclusion">
            <a:extLst xmlns:a="http://schemas.openxmlformats.org/drawingml/2006/main">
              <a:ext uri="{FF2B5EF4-FFF2-40B4-BE49-F238E27FC236}">
                <a16:creationId xmlns:a16="http://schemas.microsoft.com/office/drawing/2014/main" id="{C6507EAF-83C4-4C3D-881B-792BDDEC5767}"/>
              </a:ext>
            </a:extLst>
          </p:cNvPr>
          <p:cNvSpPr>
            <a:spLocks xmlns:a="http://schemas.openxmlformats.org/drawingml/2006/main" noGrp="1"/>
          </p:cNvSpPr>
          <p:nvPr/>
        </p:nvSpPr>
        <p:spPr>
          <a:xfrm xmlns:a="http://schemas.openxmlformats.org/drawingml/2006/main">
            <a:off x="714375" y="5838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B46A48"/>
                </a:solidFill>
                <a:latin typeface="Arial"/>
                <a:ea typeface="Arial"/>
                <a:cs typeface="Arial"/>
              </a:defRPr>
            </a:defPPr>
            <a:lvl1pPr>
              <a:defRPr sz="1875" b="0">
                <a:solidFill>
                  <a:srgbClr val="B46A48"/>
                </a:solidFill>
                <a:latin typeface="Arial"/>
                <a:ea typeface="Arial"/>
                <a:cs typeface="Arial"/>
              </a:defRPr>
            </a:lvl1pPr>
            <a:lvl2pPr>
              <a:defRPr sz="1875" b="0">
                <a:solidFill>
                  <a:srgbClr val="B46A48"/>
                </a:solidFill>
                <a:latin typeface="Arial"/>
                <a:ea typeface="Arial"/>
                <a:cs typeface="Arial"/>
              </a:defRPr>
            </a:lvl2pPr>
            <a:lvl3pPr>
              <a:defRPr sz="1875" b="0">
                <a:solidFill>
                  <a:srgbClr val="B46A48"/>
                </a:solidFill>
                <a:latin typeface="Arial"/>
                <a:ea typeface="Arial"/>
                <a:cs typeface="Arial"/>
              </a:defRPr>
            </a:lvl3pPr>
            <a:lvl4pPr>
              <a:defRPr sz="1875" b="0">
                <a:solidFill>
                  <a:srgbClr val="B46A48"/>
                </a:solidFill>
                <a:latin typeface="Arial"/>
                <a:ea typeface="Arial"/>
                <a:cs typeface="Arial"/>
              </a:defRPr>
            </a:lvl4pPr>
            <a:lvl5pPr>
              <a:defRPr sz="1875" b="0">
                <a:solidFill>
                  <a:srgbClr val="B46A48"/>
                </a:solidFill>
                <a:latin typeface="Arial"/>
                <a:ea typeface="Arial"/>
                <a:cs typeface="Arial"/>
              </a:defRPr>
            </a:lvl5pPr>
            <a:lvl6pPr>
              <a:defRPr sz="1875" b="0">
                <a:solidFill>
                  <a:srgbClr val="B46A48"/>
                </a:solidFill>
                <a:latin typeface="Arial"/>
                <a:ea typeface="Arial"/>
                <a:cs typeface="Arial"/>
              </a:defRPr>
            </a:lvl6pPr>
            <a:lvl7pPr>
              <a:defRPr sz="1875" b="0">
                <a:solidFill>
                  <a:srgbClr val="B46A48"/>
                </a:solidFill>
                <a:latin typeface="Arial"/>
                <a:ea typeface="Arial"/>
                <a:cs typeface="Arial"/>
              </a:defRPr>
            </a:lvl7pPr>
            <a:lvl8pPr>
              <a:defRPr sz="1875" b="0">
                <a:solidFill>
                  <a:srgbClr val="B46A48"/>
                </a:solidFill>
                <a:latin typeface="Arial"/>
                <a:ea typeface="Arial"/>
                <a:cs typeface="Arial"/>
              </a:defRPr>
            </a:lvl8pPr>
            <a:lvl9pPr>
              <a:defRPr sz="1875" b="0">
                <a:solidFill>
                  <a:srgbClr val="B46A48"/>
                </a:solidFill>
                <a:latin typeface="Arial"/>
                <a:ea typeface="Arial"/>
                <a:cs typeface="Arial"/>
              </a:defRPr>
            </a:lvl9pPr>
          </a:lstStyle>
          <a:p xmlns:a="http://schemas.openxmlformats.org/drawingml/2006/main">
            <a:pPr>
              <a:defRPr sz="1875" b="0">
                <a:solidFill>
                  <a:srgbClr val="B46A48"/>
                </a:solidFill>
                <a:latin typeface="Arial"/>
                <a:ea typeface="Arial"/>
                <a:cs typeface="Arial"/>
              </a:defRPr>
            </a:pPr>
            <a:r>
              <a:rPr sz="1875" b="0">
                <a:solidFill>
                  <a:srgbClr val="B46A48"/>
                </a:solidFill>
                <a:latin typeface="Arial"/>
                <a:ea typeface="Arial"/>
                <a:cs typeface="Arial"/>
              </a:rPr>
              <a:t>Месячные интервалы M3 слишком узкие. M4 ближе к номиналу.</a:t>
            </a:r>
          </a:p>
        </p:txBody>
      </p:sp>
    </p:spTree>
    <p:extLst>
      <p:ext uri="{BB962C8B-B14F-4D97-AF65-F5344CB8AC3E}">
        <p14:creationId xmlns:p14="http://schemas.microsoft.com/office/powerpoint/2010/main" val="966747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2026-10-17T21:39:52.0790000Z</dcterms:created>
  <dcterms:modified xsi:type="dcterms:W3CDTF">2026-10-17T21:39:52.0790000Z</dcterms:modified>
</coreProperties>
</file>